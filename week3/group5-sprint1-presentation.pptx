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5D1"/>
        </a:solidFill>
      </p:bgPr>
    </p:bg>
    <p:spTree>
      <p:nvGrpSpPr>
        <p:cNvPr id="1" name=""/>
        <p:cNvGrpSpPr/>
        <p:nvPr/>
      </p:nvGrpSpPr>
      <p:grpSpPr>
        <a:xfrm>
          <a:off x="0" y="0"/>
          <a:ext cx="0" cy="0"/>
          <a:chOff x="0" y="0"/>
          <a:chExt cx="0" cy="0"/>
        </a:xfrm>
      </p:grpSpPr>
      <p:sp>
        <p:nvSpPr>
          <p:cNvPr id="2" name="Shape 0"/>
          <p:cNvSpPr/>
          <p:nvPr/>
        </p:nvSpPr>
        <p:spPr>
          <a:xfrm>
            <a:off x="0" y="4819650"/>
            <a:ext cx="9144000" cy="0"/>
          </a:xfrm>
          <a:prstGeom prst="line">
            <a:avLst/>
          </a:prstGeom>
          <a:noFill/>
          <a:ln w="12700">
            <a:solidFill>
              <a:srgbClr val="000000"/>
            </a:solidFill>
            <a:prstDash val="solid"/>
          </a:ln>
        </p:spPr>
      </p:sp>
      <p:sp>
        <p:nvSpPr>
          <p:cNvPr id="3" name="Shape 1"/>
          <p:cNvSpPr/>
          <p:nvPr/>
        </p:nvSpPr>
        <p:spPr>
          <a:xfrm>
            <a:off x="0" y="666750"/>
            <a:ext cx="9144000" cy="0"/>
          </a:xfrm>
          <a:prstGeom prst="line">
            <a:avLst/>
          </a:prstGeom>
          <a:noFill/>
          <a:ln w="76200">
            <a:solidFill>
              <a:srgbClr val="000000"/>
            </a:solidFill>
            <a:prstDash val="solid"/>
          </a:ln>
        </p:spPr>
      </p:sp>
      <p:sp>
        <p:nvSpPr>
          <p:cNvPr id="4" name="Text 2"/>
          <p:cNvSpPr/>
          <p:nvPr/>
        </p:nvSpPr>
        <p:spPr>
          <a:xfrm>
            <a:off x="1190625" y="2433638"/>
            <a:ext cx="7210425" cy="619125"/>
          </a:xfrm>
          <a:prstGeom prst="rect">
            <a:avLst/>
          </a:prstGeom>
          <a:noFill/>
          <a:ln/>
        </p:spPr>
        <p:txBody>
          <a:bodyPr wrap="square" rtlCol="0" anchor="ctr"/>
          <a:lstStyle/>
          <a:p>
            <a:pPr algn="ctr" indent="0" marL="0">
              <a:lnSpc>
                <a:spcPts val="4875"/>
              </a:lnSpc>
              <a:buNone/>
            </a:pPr>
            <a:r>
              <a:rPr lang="en-US" sz="4350" dirty="0">
                <a:solidFill>
                  <a:srgbClr val="000000">
                    <a:alpha val="99000"/>
                  </a:srgbClr>
                </a:solidFill>
                <a:latin typeface="Besley" pitchFamily="34" charset="0"/>
                <a:ea typeface="Besley" pitchFamily="34" charset="-122"/>
                <a:cs typeface="Besley" pitchFamily="34" charset="-120"/>
              </a:rPr>
              <a:t>SQUAWK</a:t>
            </a:r>
            <a:endParaRPr lang="en-US" sz="4350" dirty="0"/>
          </a:p>
        </p:txBody>
      </p:sp>
      <p:sp>
        <p:nvSpPr>
          <p:cNvPr id="5" name="Text 3"/>
          <p:cNvSpPr/>
          <p:nvPr/>
        </p:nvSpPr>
        <p:spPr>
          <a:xfrm>
            <a:off x="609600" y="4171950"/>
            <a:ext cx="1604963" cy="238125"/>
          </a:xfrm>
          <a:prstGeom prst="rect">
            <a:avLst/>
          </a:prstGeom>
          <a:noFill/>
          <a:ln/>
        </p:spPr>
        <p:txBody>
          <a:bodyPr wrap="square" rtlCol="0" anchor="ctr"/>
          <a:lstStyle/>
          <a:p>
            <a:pPr algn="ctr" indent="0" marL="0">
              <a:lnSpc>
                <a:spcPts val="1875"/>
              </a:lnSpc>
              <a:buNone/>
            </a:pPr>
            <a:r>
              <a:rPr lang="en-US" sz="1688" dirty="0">
                <a:solidFill>
                  <a:srgbClr val="000000">
                    <a:alpha val="99000"/>
                  </a:srgbClr>
                </a:solidFill>
                <a:latin typeface="Besley" pitchFamily="34" charset="0"/>
                <a:ea typeface="Besley" pitchFamily="34" charset="-122"/>
                <a:cs typeface="Besley" pitchFamily="34" charset="-120"/>
              </a:rPr>
              <a:t>CHUN HE</a:t>
            </a:r>
            <a:endParaRPr lang="en-US" sz="1688" dirty="0"/>
          </a:p>
        </p:txBody>
      </p:sp>
      <p:sp>
        <p:nvSpPr>
          <p:cNvPr id="6" name="Text 4"/>
          <p:cNvSpPr/>
          <p:nvPr/>
        </p:nvSpPr>
        <p:spPr>
          <a:xfrm>
            <a:off x="2790825" y="4171950"/>
            <a:ext cx="1657350" cy="238125"/>
          </a:xfrm>
          <a:prstGeom prst="rect">
            <a:avLst/>
          </a:prstGeom>
          <a:noFill/>
          <a:ln/>
        </p:spPr>
        <p:txBody>
          <a:bodyPr wrap="square" rtlCol="0" anchor="ctr"/>
          <a:lstStyle/>
          <a:p>
            <a:pPr algn="ctr" indent="0" marL="0">
              <a:lnSpc>
                <a:spcPts val="1875"/>
              </a:lnSpc>
              <a:buNone/>
            </a:pPr>
            <a:r>
              <a:rPr lang="en-US" sz="1688" dirty="0">
                <a:solidFill>
                  <a:srgbClr val="000000">
                    <a:alpha val="99000"/>
                  </a:srgbClr>
                </a:solidFill>
                <a:latin typeface="Besley" pitchFamily="34" charset="0"/>
                <a:ea typeface="Besley" pitchFamily="34" charset="-122"/>
                <a:cs typeface="Besley" pitchFamily="34" charset="-120"/>
              </a:rPr>
              <a:t>RUI ZHAO</a:t>
            </a:r>
            <a:endParaRPr lang="en-US" sz="1688" dirty="0"/>
          </a:p>
        </p:txBody>
      </p:sp>
      <p:sp>
        <p:nvSpPr>
          <p:cNvPr id="7" name="Text 5"/>
          <p:cNvSpPr/>
          <p:nvPr/>
        </p:nvSpPr>
        <p:spPr>
          <a:xfrm>
            <a:off x="3990975" y="190500"/>
            <a:ext cx="1619250" cy="285750"/>
          </a:xfrm>
          <a:prstGeom prst="rect">
            <a:avLst/>
          </a:prstGeom>
          <a:noFill/>
          <a:ln/>
        </p:spPr>
        <p:txBody>
          <a:bodyPr wrap="square" rtlCol="0" anchor="ctr"/>
          <a:lstStyle/>
          <a:p>
            <a:pPr algn="ctr" indent="0" marL="0">
              <a:lnSpc>
                <a:spcPts val="2250"/>
              </a:lnSpc>
              <a:buNone/>
            </a:pPr>
            <a:r>
              <a:rPr lang="en-US" sz="2100" spc="210" kern="0" dirty="0">
                <a:solidFill>
                  <a:srgbClr val="000000">
                    <a:alpha val="99000"/>
                  </a:srgbClr>
                </a:solidFill>
                <a:latin typeface="Space Grotesk" pitchFamily="34" charset="0"/>
                <a:ea typeface="Space Grotesk" pitchFamily="34" charset="-122"/>
                <a:cs typeface="Space Grotesk" pitchFamily="34" charset="-120"/>
              </a:rPr>
              <a:t>Group 5</a:t>
            </a:r>
            <a:endParaRPr lang="en-US" sz="2100" dirty="0"/>
          </a:p>
        </p:txBody>
      </p:sp>
      <p:sp>
        <p:nvSpPr>
          <p:cNvPr id="8" name="Text 6"/>
          <p:cNvSpPr/>
          <p:nvPr/>
        </p:nvSpPr>
        <p:spPr>
          <a:xfrm>
            <a:off x="5053013" y="4171950"/>
            <a:ext cx="1804988" cy="238125"/>
          </a:xfrm>
          <a:prstGeom prst="rect">
            <a:avLst/>
          </a:prstGeom>
          <a:noFill/>
          <a:ln/>
        </p:spPr>
        <p:txBody>
          <a:bodyPr wrap="square" rtlCol="0" anchor="ctr"/>
          <a:lstStyle/>
          <a:p>
            <a:pPr algn="ctr" indent="0" marL="0">
              <a:lnSpc>
                <a:spcPts val="1875"/>
              </a:lnSpc>
              <a:buNone/>
            </a:pPr>
            <a:r>
              <a:rPr lang="en-US" sz="1688" dirty="0">
                <a:solidFill>
                  <a:srgbClr val="000000">
                    <a:alpha val="99000"/>
                  </a:srgbClr>
                </a:solidFill>
                <a:latin typeface="Besley" pitchFamily="34" charset="0"/>
                <a:ea typeface="Besley" pitchFamily="34" charset="-122"/>
                <a:cs typeface="Besley" pitchFamily="34" charset="-120"/>
              </a:rPr>
              <a:t>ZONGRU LI</a:t>
            </a:r>
            <a:endParaRPr lang="en-US" sz="1688" dirty="0"/>
          </a:p>
        </p:txBody>
      </p:sp>
      <p:sp>
        <p:nvSpPr>
          <p:cNvPr id="9" name="Text 7"/>
          <p:cNvSpPr/>
          <p:nvPr/>
        </p:nvSpPr>
        <p:spPr>
          <a:xfrm>
            <a:off x="7010400" y="4171950"/>
            <a:ext cx="1976437" cy="238125"/>
          </a:xfrm>
          <a:prstGeom prst="rect">
            <a:avLst/>
          </a:prstGeom>
          <a:noFill/>
          <a:ln/>
        </p:spPr>
        <p:txBody>
          <a:bodyPr wrap="square" rtlCol="0" anchor="ctr"/>
          <a:lstStyle/>
          <a:p>
            <a:pPr algn="ctr" indent="0" marL="0">
              <a:lnSpc>
                <a:spcPts val="1875"/>
              </a:lnSpc>
              <a:buNone/>
            </a:pPr>
            <a:r>
              <a:rPr lang="en-US" sz="1688" dirty="0">
                <a:solidFill>
                  <a:srgbClr val="000000">
                    <a:alpha val="99000"/>
                  </a:srgbClr>
                </a:solidFill>
                <a:latin typeface="Besley" pitchFamily="34" charset="0"/>
                <a:ea typeface="Besley" pitchFamily="34" charset="-122"/>
                <a:cs typeface="Besley" pitchFamily="34" charset="-120"/>
              </a:rPr>
              <a:t>JUYIN TANG</a:t>
            </a:r>
            <a:endParaRPr lang="en-US" sz="1688"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0F0"/>
        </a:solidFill>
      </p:bgPr>
    </p:bg>
    <p:spTree>
      <p:nvGrpSpPr>
        <p:cNvPr id="1" name=""/>
        <p:cNvGrpSpPr/>
        <p:nvPr/>
      </p:nvGrpSpPr>
      <p:grpSpPr>
        <a:xfrm>
          <a:off x="0" y="0"/>
          <a:ext cx="0" cy="0"/>
          <a:chOff x="0" y="0"/>
          <a:chExt cx="0" cy="0"/>
        </a:xfrm>
      </p:grpSpPr>
      <p:sp>
        <p:nvSpPr>
          <p:cNvPr id="2" name="Shape 0"/>
          <p:cNvSpPr/>
          <p:nvPr/>
        </p:nvSpPr>
        <p:spPr>
          <a:xfrm>
            <a:off x="4763" y="1771650"/>
            <a:ext cx="9144000" cy="0"/>
          </a:xfrm>
          <a:prstGeom prst="line">
            <a:avLst/>
          </a:prstGeom>
          <a:noFill/>
          <a:ln w="76200">
            <a:solidFill>
              <a:srgbClr val="000000"/>
            </a:solidFill>
            <a:prstDash val="solid"/>
          </a:ln>
        </p:spPr>
      </p:sp>
      <p:sp>
        <p:nvSpPr>
          <p:cNvPr id="3" name="Shape 1"/>
          <p:cNvSpPr/>
          <p:nvPr/>
        </p:nvSpPr>
        <p:spPr>
          <a:xfrm>
            <a:off x="4763" y="2328863"/>
            <a:ext cx="9144000" cy="0"/>
          </a:xfrm>
          <a:prstGeom prst="line">
            <a:avLst/>
          </a:prstGeom>
          <a:noFill/>
          <a:ln w="12700">
            <a:solidFill>
              <a:srgbClr val="000000"/>
            </a:solidFill>
            <a:prstDash val="solid"/>
          </a:ln>
        </p:spPr>
      </p:sp>
      <p:sp>
        <p:nvSpPr>
          <p:cNvPr id="4" name="Shape 2"/>
          <p:cNvSpPr/>
          <p:nvPr/>
        </p:nvSpPr>
        <p:spPr>
          <a:xfrm rot="5400000">
            <a:off x="3050381" y="3298031"/>
            <a:ext cx="3043238" cy="0"/>
          </a:xfrm>
          <a:prstGeom prst="line">
            <a:avLst/>
          </a:prstGeom>
          <a:noFill/>
          <a:ln w="12700">
            <a:solidFill>
              <a:srgbClr val="000000"/>
            </a:solidFill>
            <a:prstDash val="solid"/>
          </a:ln>
        </p:spPr>
      </p:sp>
      <p:sp>
        <p:nvSpPr>
          <p:cNvPr id="5" name="Shape 3"/>
          <p:cNvSpPr/>
          <p:nvPr/>
        </p:nvSpPr>
        <p:spPr>
          <a:xfrm>
            <a:off x="0" y="4819650"/>
            <a:ext cx="9144000" cy="0"/>
          </a:xfrm>
          <a:prstGeom prst="line">
            <a:avLst/>
          </a:prstGeom>
          <a:noFill/>
          <a:ln w="12700">
            <a:solidFill>
              <a:srgbClr val="000000"/>
            </a:solidFill>
            <a:prstDash val="solid"/>
          </a:ln>
        </p:spPr>
      </p:sp>
      <p:sp>
        <p:nvSpPr>
          <p:cNvPr id="6" name="Text 4"/>
          <p:cNvSpPr/>
          <p:nvPr/>
        </p:nvSpPr>
        <p:spPr>
          <a:xfrm>
            <a:off x="4495800" y="2062163"/>
            <a:ext cx="457200" cy="190500"/>
          </a:xfrm>
          <a:prstGeom prst="rect">
            <a:avLst/>
          </a:prstGeom>
          <a:noFill/>
          <a:ln/>
        </p:spPr>
        <p:txBody>
          <a:bodyPr wrap="square" rtlCol="0" anchor="ctr"/>
          <a:lstStyle/>
          <a:p>
            <a:pPr indent="0" marL="0">
              <a:buNone/>
            </a:pPr>
            <a:endParaRPr lang="en-US" dirty="0"/>
          </a:p>
        </p:txBody>
      </p:sp>
      <p:sp>
        <p:nvSpPr>
          <p:cNvPr id="7" name="Text 5"/>
          <p:cNvSpPr/>
          <p:nvPr/>
        </p:nvSpPr>
        <p:spPr>
          <a:xfrm>
            <a:off x="857250" y="1909762"/>
            <a:ext cx="2028825" cy="285750"/>
          </a:xfrm>
          <a:prstGeom prst="rect">
            <a:avLst/>
          </a:prstGeom>
          <a:noFill/>
          <a:ln/>
        </p:spPr>
        <p:txBody>
          <a:bodyPr wrap="square" rtlCol="0" anchor="ctr"/>
          <a:lstStyle/>
          <a:p>
            <a:pPr algn="ctr" indent="0" marL="0">
              <a:lnSpc>
                <a:spcPts val="2250"/>
              </a:lnSpc>
              <a:buNone/>
            </a:pPr>
            <a:r>
              <a:rPr lang="en-US" sz="1350" spc="27" kern="0" dirty="0">
                <a:solidFill>
                  <a:srgbClr val="000000">
                    <a:alpha val="99000"/>
                  </a:srgbClr>
                </a:solidFill>
                <a:latin typeface="Space Grotesk" pitchFamily="34" charset="0"/>
                <a:ea typeface="Space Grotesk" pitchFamily="34" charset="-122"/>
                <a:cs typeface="Space Grotesk" pitchFamily="34" charset="-120"/>
              </a:rPr>
              <a:t>Target Users </a:t>
            </a:r>
            <a:endParaRPr lang="en-US" sz="1350" dirty="0"/>
          </a:p>
        </p:txBody>
      </p:sp>
      <p:sp>
        <p:nvSpPr>
          <p:cNvPr id="8" name="Text 6"/>
          <p:cNvSpPr/>
          <p:nvPr/>
        </p:nvSpPr>
        <p:spPr>
          <a:xfrm>
            <a:off x="6215063" y="1919288"/>
            <a:ext cx="1585913" cy="285750"/>
          </a:xfrm>
          <a:prstGeom prst="rect">
            <a:avLst/>
          </a:prstGeom>
          <a:noFill/>
          <a:ln/>
        </p:spPr>
        <p:txBody>
          <a:bodyPr wrap="square" rtlCol="0" anchor="ctr"/>
          <a:lstStyle/>
          <a:p>
            <a:pPr algn="ctr" indent="0" marL="0">
              <a:lnSpc>
                <a:spcPts val="2250"/>
              </a:lnSpc>
              <a:buNone/>
            </a:pPr>
            <a:r>
              <a:rPr lang="en-US" sz="1350" spc="27" kern="0" dirty="0">
                <a:solidFill>
                  <a:srgbClr val="000000">
                    <a:alpha val="99000"/>
                  </a:srgbClr>
                </a:solidFill>
                <a:latin typeface="Space Grotesk" pitchFamily="34" charset="0"/>
                <a:ea typeface="Space Grotesk" pitchFamily="34" charset="-122"/>
                <a:cs typeface="Space Grotesk" pitchFamily="34" charset="-120"/>
              </a:rPr>
              <a:t>Stakeholders</a:t>
            </a:r>
            <a:endParaRPr lang="en-US" sz="1350" dirty="0"/>
          </a:p>
        </p:txBody>
      </p:sp>
      <p:sp>
        <p:nvSpPr>
          <p:cNvPr id="9" name="Text 7"/>
          <p:cNvSpPr/>
          <p:nvPr/>
        </p:nvSpPr>
        <p:spPr>
          <a:xfrm>
            <a:off x="3300413" y="190500"/>
            <a:ext cx="3000375" cy="285750"/>
          </a:xfrm>
          <a:prstGeom prst="rect">
            <a:avLst/>
          </a:prstGeom>
          <a:noFill/>
          <a:ln/>
        </p:spPr>
        <p:txBody>
          <a:bodyPr wrap="square" rtlCol="0" anchor="ctr"/>
          <a:lstStyle/>
          <a:p>
            <a:pPr algn="ctr" indent="0" marL="0">
              <a:lnSpc>
                <a:spcPts val="2250"/>
              </a:lnSpc>
              <a:buNone/>
            </a:pPr>
            <a:r>
              <a:rPr lang="en-US" sz="2100" spc="210" kern="0" dirty="0">
                <a:solidFill>
                  <a:srgbClr val="000000">
                    <a:alpha val="99000"/>
                  </a:srgbClr>
                </a:solidFill>
                <a:latin typeface="Space Grotesk" pitchFamily="34" charset="0"/>
                <a:ea typeface="Space Grotesk" pitchFamily="34" charset="-122"/>
                <a:cs typeface="Space Grotesk" pitchFamily="34" charset="-120"/>
              </a:rPr>
              <a:t>Project Overview</a:t>
            </a:r>
            <a:endParaRPr lang="en-US" sz="2100" dirty="0"/>
          </a:p>
        </p:txBody>
      </p:sp>
      <p:sp>
        <p:nvSpPr>
          <p:cNvPr id="10" name="Text 8"/>
          <p:cNvSpPr/>
          <p:nvPr/>
        </p:nvSpPr>
        <p:spPr>
          <a:xfrm>
            <a:off x="857250" y="3052763"/>
            <a:ext cx="3205163" cy="1143000"/>
          </a:xfrm>
          <a:prstGeom prst="rect">
            <a:avLst/>
          </a:prstGeom>
          <a:noFill/>
          <a:ln/>
        </p:spPr>
        <p:txBody>
          <a:bodyPr wrap="square" rtlCol="0" anchor="ctr"/>
          <a:lstStyle/>
          <a:p>
            <a:pPr algn="l" indent="0" marL="0">
              <a:lnSpc>
                <a:spcPts val="1800"/>
              </a:lnSpc>
              <a:buNone/>
            </a:pPr>
            <a:r>
              <a:rPr lang="en-US" sz="1350" dirty="0">
                <a:solidFill>
                  <a:srgbClr val="000000">
                    <a:alpha val="99000"/>
                  </a:srgbClr>
                </a:solidFill>
                <a:latin typeface="Almarai" pitchFamily="34" charset="0"/>
                <a:ea typeface="Almarai" pitchFamily="34" charset="-122"/>
                <a:cs typeface="Almarai" pitchFamily="34" charset="-120"/>
              </a:rPr>
              <a:t>Primary Users ("Squawkers"): General web users interested in a micro-blogging experience. </a:t>
            </a:r>
            <a:endParaRPr lang="en-US" sz="1350" dirty="0"/>
          </a:p>
        </p:txBody>
      </p:sp>
      <p:sp>
        <p:nvSpPr>
          <p:cNvPr id="11" name="Text 9"/>
          <p:cNvSpPr/>
          <p:nvPr/>
        </p:nvSpPr>
        <p:spPr>
          <a:xfrm>
            <a:off x="5486400" y="3109913"/>
            <a:ext cx="3219450" cy="1371600"/>
          </a:xfrm>
          <a:prstGeom prst="rect">
            <a:avLst/>
          </a:prstGeom>
          <a:noFill/>
          <a:ln/>
        </p:spPr>
        <p:txBody>
          <a:bodyPr wrap="square" rtlCol="0" anchor="ctr"/>
          <a:lstStyle/>
          <a:p>
            <a:pPr algn="l" indent="0" marL="0">
              <a:lnSpc>
                <a:spcPts val="1800"/>
              </a:lnSpc>
              <a:buNone/>
            </a:pPr>
            <a:r>
              <a:rPr lang="en-US" sz="1350" dirty="0">
                <a:solidFill>
                  <a:srgbClr val="000000">
                    <a:alpha val="99000"/>
                  </a:srgbClr>
                </a:solidFill>
                <a:latin typeface="Almarai" pitchFamily="34" charset="0"/>
                <a:ea typeface="Almarai" pitchFamily="34" charset="-122"/>
                <a:cs typeface="Almarai" pitchFamily="34" charset="-120"/>
              </a:rPr>
              <a:t>Group Members :</a:t>
            </a:r>
            <a:endParaRPr lang="en-US" sz="1350" dirty="0"/>
          </a:p>
          <a:p>
            <a:pPr algn="l" indent="0" marL="0">
              <a:lnSpc>
                <a:spcPts val="1800"/>
              </a:lnSpc>
              <a:buNone/>
            </a:pPr>
            <a:r>
              <a:rPr lang="en-US" sz="1350" dirty="0">
                <a:solidFill>
                  <a:srgbClr val="000000">
                    <a:alpha val="99000"/>
                  </a:srgbClr>
                </a:solidFill>
                <a:latin typeface="Almarai" pitchFamily="34" charset="0"/>
                <a:ea typeface="Almarai" pitchFamily="34" charset="-122"/>
                <a:cs typeface="Almarai" pitchFamily="34" charset="-120"/>
              </a:rPr>
              <a:t> The stakeholders responsible for building, testing, and deploying the application. </a:t>
            </a:r>
            <a:endParaRPr lang="en-US" sz="1350" dirty="0"/>
          </a:p>
        </p:txBody>
      </p:sp>
      <p:sp>
        <p:nvSpPr>
          <p:cNvPr id="12" name="Text 10"/>
          <p:cNvSpPr/>
          <p:nvPr/>
        </p:nvSpPr>
        <p:spPr>
          <a:xfrm>
            <a:off x="857250" y="666750"/>
            <a:ext cx="8405813" cy="914400"/>
          </a:xfrm>
          <a:prstGeom prst="rect">
            <a:avLst/>
          </a:prstGeom>
          <a:noFill/>
          <a:ln/>
        </p:spPr>
        <p:txBody>
          <a:bodyPr wrap="square" rtlCol="0" anchor="ctr"/>
          <a:lstStyle/>
          <a:p>
            <a:pPr algn="l" indent="0" marL="0">
              <a:lnSpc>
                <a:spcPts val="1800"/>
              </a:lnSpc>
              <a:buNone/>
            </a:pPr>
            <a:r>
              <a:rPr lang="en-US" sz="1350" dirty="0">
                <a:solidFill>
                  <a:srgbClr val="000000">
                    <a:alpha val="99000"/>
                  </a:srgbClr>
                </a:solidFill>
                <a:latin typeface="Almarai" pitchFamily="34" charset="0"/>
                <a:ea typeface="Almarai" pitchFamily="34" charset="-122"/>
                <a:cs typeface="Almarai" pitchFamily="34" charset="-120"/>
              </a:rPr>
              <a:t>The project is a simplified, functional clone of Twitter designed to capture its core social media loop. </a:t>
            </a:r>
            <a:endParaRPr lang="en-US" sz="1350" dirty="0"/>
          </a:p>
          <a:p>
            <a:pPr algn="l" indent="0" marL="0">
              <a:lnSpc>
                <a:spcPts val="1800"/>
              </a:lnSpc>
              <a:buNone/>
            </a:pPr>
            <a:r>
              <a:rPr lang="en-US" sz="1350" dirty="0">
                <a:solidFill>
                  <a:srgbClr val="000000">
                    <a:alpha val="99000"/>
                  </a:srgbClr>
                </a:solidFill>
                <a:latin typeface="Almarai" pitchFamily="34" charset="0"/>
                <a:ea typeface="Almarai" pitchFamily="34" charset="-122"/>
                <a:cs typeface="Almarai" pitchFamily="34" charset="-120"/>
              </a:rPr>
              <a:t>The main purpose is to allow users to post short messages and interact with each other in a public forum.</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0F0"/>
        </a:solidFill>
      </p:bgPr>
    </p:bg>
    <p:spTree>
      <p:nvGrpSpPr>
        <p:cNvPr id="1" name=""/>
        <p:cNvGrpSpPr/>
        <p:nvPr/>
      </p:nvGrpSpPr>
      <p:grpSpPr>
        <a:xfrm>
          <a:off x="0" y="0"/>
          <a:ext cx="0" cy="0"/>
          <a:chOff x="0" y="0"/>
          <a:chExt cx="0" cy="0"/>
        </a:xfrm>
      </p:grpSpPr>
      <p:sp>
        <p:nvSpPr>
          <p:cNvPr id="2" name="Shape 0"/>
          <p:cNvSpPr/>
          <p:nvPr/>
        </p:nvSpPr>
        <p:spPr>
          <a:xfrm>
            <a:off x="0" y="666750"/>
            <a:ext cx="9144000" cy="0"/>
          </a:xfrm>
          <a:prstGeom prst="line">
            <a:avLst/>
          </a:prstGeom>
          <a:noFill/>
          <a:ln w="76200">
            <a:solidFill>
              <a:srgbClr val="000000"/>
            </a:solidFill>
            <a:prstDash val="solid"/>
          </a:ln>
        </p:spPr>
      </p:sp>
      <p:sp>
        <p:nvSpPr>
          <p:cNvPr id="3" name="Text 1"/>
          <p:cNvSpPr/>
          <p:nvPr/>
        </p:nvSpPr>
        <p:spPr>
          <a:xfrm>
            <a:off x="3024188" y="190500"/>
            <a:ext cx="3557588" cy="285750"/>
          </a:xfrm>
          <a:prstGeom prst="rect">
            <a:avLst/>
          </a:prstGeom>
          <a:noFill/>
          <a:ln/>
        </p:spPr>
        <p:txBody>
          <a:bodyPr wrap="square" rtlCol="0" anchor="ctr"/>
          <a:lstStyle/>
          <a:p>
            <a:pPr algn="ctr" indent="0" marL="0">
              <a:lnSpc>
                <a:spcPts val="2250"/>
              </a:lnSpc>
              <a:buNone/>
            </a:pPr>
            <a:r>
              <a:rPr lang="en-US" sz="2100" spc="210" kern="0" dirty="0">
                <a:solidFill>
                  <a:srgbClr val="000000">
                    <a:alpha val="99000"/>
                  </a:srgbClr>
                </a:solidFill>
                <a:latin typeface="Space Grotesk" pitchFamily="34" charset="0"/>
                <a:ea typeface="Space Grotesk" pitchFamily="34" charset="-122"/>
                <a:cs typeface="Space Grotesk" pitchFamily="34" charset="-120"/>
              </a:rPr>
              <a:t>Main Functionalities</a:t>
            </a:r>
            <a:endParaRPr lang="en-US" sz="2100" dirty="0"/>
          </a:p>
        </p:txBody>
      </p:sp>
      <p:sp>
        <p:nvSpPr>
          <p:cNvPr id="4" name="Text 2"/>
          <p:cNvSpPr/>
          <p:nvPr/>
        </p:nvSpPr>
        <p:spPr>
          <a:xfrm>
            <a:off x="600075" y="1343025"/>
            <a:ext cx="8405813" cy="2971800"/>
          </a:xfrm>
          <a:prstGeom prst="rect">
            <a:avLst/>
          </a:prstGeom>
          <a:noFill/>
          <a:ln/>
        </p:spPr>
        <p:txBody>
          <a:bodyPr wrap="square" rtlCol="0" anchor="ctr"/>
          <a:lstStyle/>
          <a:p>
            <a:pPr algn="l" marL="342900" indent="-342900">
              <a:lnSpc>
                <a:spcPts val="1800"/>
              </a:lnSpc>
              <a:buSzPct val="100000"/>
              <a:buChar char="•"/>
            </a:pPr>
            <a:r>
              <a:rPr lang="en-US" sz="1350" b="1" dirty="0">
                <a:solidFill>
                  <a:srgbClr val="000000">
                    <a:alpha val="99000"/>
                  </a:srgbClr>
                </a:solidFill>
                <a:latin typeface="Almarai" pitchFamily="34" charset="0"/>
                <a:ea typeface="Almarai" pitchFamily="34" charset="-122"/>
                <a:cs typeface="Almarai" pitchFamily="34" charset="-120"/>
              </a:rPr>
              <a:t>User Account Management</a:t>
            </a:r>
            <a:pPr algn="l" indent="0" marL="0">
              <a:lnSpc>
                <a:spcPts val="1800"/>
              </a:lnSpc>
              <a:buNone/>
            </a:pPr>
            <a:r>
              <a:rPr lang="en-US" sz="1350" dirty="0">
                <a:solidFill>
                  <a:srgbClr val="000000">
                    <a:alpha val="99000"/>
                  </a:srgbClr>
                </a:solidFill>
                <a:latin typeface="Almarai" pitchFamily="34" charset="0"/>
                <a:ea typeface="Almarai" pitchFamily="34" charset="-122"/>
                <a:cs typeface="Almarai" pitchFamily="34" charset="-120"/>
              </a:rPr>
              <a:t>: Secure sign-up, login, and logout functionality.</a:t>
            </a:r>
            <a:endParaRPr lang="en-US" sz="1350" dirty="0"/>
          </a:p>
          <a:p>
            <a:pPr algn="l" marL="342900" indent="-342900">
              <a:lnSpc>
                <a:spcPts val="1800"/>
              </a:lnSpc>
              <a:buSzPct val="100000"/>
              <a:buChar char="•"/>
            </a:pPr>
            <a:r>
              <a:rPr lang="en-US" sz="1350" b="1" dirty="0">
                <a:solidFill>
                  <a:srgbClr val="000000">
                    <a:alpha val="99000"/>
                  </a:srgbClr>
                </a:solidFill>
                <a:latin typeface="Almarai" pitchFamily="34" charset="0"/>
                <a:ea typeface="Almarai" pitchFamily="34" charset="-122"/>
                <a:cs typeface="Almarai" pitchFamily="34" charset="-120"/>
              </a:rPr>
              <a:t>Content Creation</a:t>
            </a:r>
            <a:pPr algn="l" indent="0" marL="0">
              <a:lnSpc>
                <a:spcPts val="1800"/>
              </a:lnSpc>
              <a:buNone/>
            </a:pPr>
            <a:r>
              <a:rPr lang="en-US" sz="1350" dirty="0">
                <a:solidFill>
                  <a:srgbClr val="000000">
                    <a:alpha val="99000"/>
                  </a:srgbClr>
                </a:solidFill>
                <a:latin typeface="Almarai" pitchFamily="34" charset="0"/>
                <a:ea typeface="Almarai" pitchFamily="34" charset="-122"/>
                <a:cs typeface="Almarai" pitchFamily="34" charset="-120"/>
              </a:rPr>
              <a:t>: Users can create and publish short text posts called "Squawks".</a:t>
            </a:r>
            <a:endParaRPr lang="en-US" sz="1350" dirty="0"/>
          </a:p>
          <a:p>
            <a:pPr algn="l" marL="342900" indent="-342900">
              <a:lnSpc>
                <a:spcPts val="1800"/>
              </a:lnSpc>
              <a:buSzPct val="100000"/>
              <a:buChar char="•"/>
            </a:pPr>
            <a:r>
              <a:rPr lang="en-US" sz="1350" b="1" dirty="0">
                <a:solidFill>
                  <a:srgbClr val="000000">
                    <a:alpha val="99000"/>
                  </a:srgbClr>
                </a:solidFill>
                <a:latin typeface="Almarai" pitchFamily="34" charset="0"/>
                <a:ea typeface="Almarai" pitchFamily="34" charset="-122"/>
                <a:cs typeface="Almarai" pitchFamily="34" charset="-120"/>
              </a:rPr>
              <a:t>Social Graph</a:t>
            </a:r>
            <a:pPr algn="l" indent="0" marL="0">
              <a:lnSpc>
                <a:spcPts val="1800"/>
              </a:lnSpc>
              <a:buNone/>
            </a:pPr>
            <a:r>
              <a:rPr lang="en-US" sz="1350" dirty="0">
                <a:solidFill>
                  <a:srgbClr val="000000">
                    <a:alpha val="99000"/>
                  </a:srgbClr>
                </a:solidFill>
                <a:latin typeface="Almarai" pitchFamily="34" charset="0"/>
                <a:ea typeface="Almarai" pitchFamily="34" charset="-122"/>
                <a:cs typeface="Almarai" pitchFamily="34" charset="-120"/>
              </a:rPr>
              <a:t>: Users can follow and unfollow other users to customize their content experience.</a:t>
            </a:r>
            <a:endParaRPr lang="en-US" sz="1350" dirty="0"/>
          </a:p>
          <a:p>
            <a:pPr algn="l" marL="342900" indent="-342900">
              <a:lnSpc>
                <a:spcPts val="1800"/>
              </a:lnSpc>
              <a:buSzPct val="100000"/>
              <a:buChar char="•"/>
            </a:pPr>
            <a:r>
              <a:rPr lang="en-US" sz="1350" b="1" dirty="0">
                <a:solidFill>
                  <a:srgbClr val="000000">
                    <a:alpha val="99000"/>
                  </a:srgbClr>
                </a:solidFill>
                <a:latin typeface="Almarai" pitchFamily="34" charset="0"/>
                <a:ea typeface="Almarai" pitchFamily="34" charset="-122"/>
                <a:cs typeface="Almarai" pitchFamily="34" charset="-120"/>
              </a:rPr>
              <a:t>Personalized Feed</a:t>
            </a:r>
            <a:pPr algn="l" indent="0" marL="0">
              <a:lnSpc>
                <a:spcPts val="1800"/>
              </a:lnSpc>
              <a:buNone/>
            </a:pPr>
            <a:r>
              <a:rPr lang="en-US" sz="1350" dirty="0">
                <a:solidFill>
                  <a:srgbClr val="000000">
                    <a:alpha val="99000"/>
                  </a:srgbClr>
                </a:solidFill>
                <a:latin typeface="Almarai" pitchFamily="34" charset="0"/>
                <a:ea typeface="Almarai" pitchFamily="34" charset="-122"/>
                <a:cs typeface="Almarai" pitchFamily="34" charset="-120"/>
              </a:rPr>
              <a:t>: A chronological homepage feed that displays Squawks from all followed users.</a:t>
            </a:r>
            <a:endParaRPr lang="en-US" sz="1350" dirty="0"/>
          </a:p>
          <a:p>
            <a:pPr algn="l" marL="342900" indent="-342900">
              <a:lnSpc>
                <a:spcPts val="1800"/>
              </a:lnSpc>
              <a:buSzPct val="100000"/>
              <a:buChar char="•"/>
            </a:pPr>
            <a:r>
              <a:rPr lang="en-US" sz="1350" b="1" dirty="0">
                <a:solidFill>
                  <a:srgbClr val="000000">
                    <a:alpha val="99000"/>
                  </a:srgbClr>
                </a:solidFill>
                <a:latin typeface="Almarai" pitchFamily="34" charset="0"/>
                <a:ea typeface="Almarai" pitchFamily="34" charset="-122"/>
                <a:cs typeface="Almarai" pitchFamily="34" charset="-120"/>
              </a:rPr>
              <a:t>User Profiles</a:t>
            </a:r>
            <a:pPr algn="l" indent="0" marL="0">
              <a:lnSpc>
                <a:spcPts val="1800"/>
              </a:lnSpc>
              <a:buNone/>
            </a:pPr>
            <a:r>
              <a:rPr lang="en-US" sz="1350" dirty="0">
                <a:solidFill>
                  <a:srgbClr val="000000">
                    <a:alpha val="99000"/>
                  </a:srgbClr>
                </a:solidFill>
                <a:latin typeface="Almarai" pitchFamily="34" charset="0"/>
                <a:ea typeface="Almarai" pitchFamily="34" charset="-122"/>
                <a:cs typeface="Almarai" pitchFamily="34" charset="-120"/>
              </a:rPr>
              <a:t>: Every user has a public profile page displaying their information and a timeline of their Squawks and interactions.</a:t>
            </a:r>
            <a:endParaRPr lang="en-US" sz="1350" dirty="0"/>
          </a:p>
          <a:p>
            <a:pPr algn="l" marL="342900" indent="-342900">
              <a:lnSpc>
                <a:spcPts val="1800"/>
              </a:lnSpc>
              <a:buSzPct val="100000"/>
              <a:buChar char="•"/>
            </a:pPr>
            <a:r>
              <a:rPr lang="en-US" sz="1350" b="1" dirty="0">
                <a:solidFill>
                  <a:srgbClr val="000000">
                    <a:alpha val="99000"/>
                  </a:srgbClr>
                </a:solidFill>
                <a:latin typeface="Almarai" pitchFamily="34" charset="0"/>
                <a:ea typeface="Almarai" pitchFamily="34" charset="-122"/>
                <a:cs typeface="Almarai" pitchFamily="34" charset="-120"/>
              </a:rPr>
              <a:t>Core Engagement</a:t>
            </a:r>
            <a:pPr algn="l" indent="0" marL="0">
              <a:lnSpc>
                <a:spcPts val="1800"/>
              </a:lnSpc>
              <a:buNone/>
            </a:pPr>
            <a:r>
              <a:rPr lang="en-US" sz="1350" dirty="0">
                <a:solidFill>
                  <a:srgbClr val="000000">
                    <a:alpha val="99000"/>
                  </a:srgbClr>
                </a:solidFill>
                <a:latin typeface="Almarai" pitchFamily="34" charset="0"/>
                <a:ea typeface="Almarai" pitchFamily="34" charset="-122"/>
                <a:cs typeface="Almarai" pitchFamily="34" charset="-120"/>
              </a:rPr>
              <a:t>: Users can interact with Squawks by Liking, Replying, and Resquawking (the equivalent of a retweet).</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0F0"/>
        </a:solidFill>
      </p:bgPr>
    </p:bg>
    <p:spTree>
      <p:nvGrpSpPr>
        <p:cNvPr id="1" name=""/>
        <p:cNvGrpSpPr/>
        <p:nvPr/>
      </p:nvGrpSpPr>
      <p:grpSpPr>
        <a:xfrm>
          <a:off x="0" y="0"/>
          <a:ext cx="0" cy="0"/>
          <a:chOff x="0" y="0"/>
          <a:chExt cx="0" cy="0"/>
        </a:xfrm>
      </p:grpSpPr>
      <p:sp>
        <p:nvSpPr>
          <p:cNvPr id="2" name="Shape 0"/>
          <p:cNvSpPr/>
          <p:nvPr/>
        </p:nvSpPr>
        <p:spPr>
          <a:xfrm>
            <a:off x="0" y="666750"/>
            <a:ext cx="9144000" cy="0"/>
          </a:xfrm>
          <a:prstGeom prst="line">
            <a:avLst/>
          </a:prstGeom>
          <a:noFill/>
          <a:ln w="76200">
            <a:solidFill>
              <a:srgbClr val="000000"/>
            </a:solidFill>
            <a:prstDash val="solid"/>
          </a:ln>
        </p:spPr>
      </p:sp>
      <p:pic>
        <p:nvPicPr>
          <p:cNvPr id="3" name="Image 0" descr="preencoded.png">    </p:cNvPr>
          <p:cNvPicPr>
            <a:picLocks noChangeAspect="1"/>
          </p:cNvPicPr>
          <p:nvPr/>
        </p:nvPicPr>
        <p:blipFill>
          <a:blip r:embed="rId1"/>
          <a:stretch>
            <a:fillRect/>
          </a:stretch>
        </p:blipFill>
        <p:spPr>
          <a:xfrm>
            <a:off x="1214438" y="666750"/>
            <a:ext cx="6715125" cy="4476750"/>
          </a:xfrm>
          <a:prstGeom prst="rect">
            <a:avLst/>
          </a:prstGeom>
        </p:spPr>
      </p:pic>
      <p:sp>
        <p:nvSpPr>
          <p:cNvPr id="4" name="Text 1"/>
          <p:cNvSpPr/>
          <p:nvPr/>
        </p:nvSpPr>
        <p:spPr>
          <a:xfrm>
            <a:off x="3124200" y="266700"/>
            <a:ext cx="3505200" cy="285750"/>
          </a:xfrm>
          <a:prstGeom prst="rect">
            <a:avLst/>
          </a:prstGeom>
          <a:noFill/>
          <a:ln/>
        </p:spPr>
        <p:txBody>
          <a:bodyPr wrap="square" rtlCol="0" anchor="ctr"/>
          <a:lstStyle/>
          <a:p>
            <a:pPr algn="ctr" indent="0" marL="0">
              <a:lnSpc>
                <a:spcPts val="2250"/>
              </a:lnSpc>
              <a:buNone/>
            </a:pPr>
            <a:r>
              <a:rPr lang="en-US" sz="2100" spc="210" kern="0" dirty="0">
                <a:solidFill>
                  <a:srgbClr val="000000">
                    <a:alpha val="99000"/>
                  </a:srgbClr>
                </a:solidFill>
                <a:latin typeface="Space Grotesk" pitchFamily="34" charset="0"/>
                <a:ea typeface="Space Grotesk" pitchFamily="34" charset="-122"/>
                <a:cs typeface="Space Grotesk" pitchFamily="34" charset="-120"/>
              </a:rPr>
              <a:t>Prototype UI Design</a:t>
            </a:r>
            <a:endParaRPr lang="en-US" sz="2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0F0"/>
        </a:solidFill>
      </p:bgPr>
    </p:bg>
    <p:spTree>
      <p:nvGrpSpPr>
        <p:cNvPr id="1" name=""/>
        <p:cNvGrpSpPr/>
        <p:nvPr/>
      </p:nvGrpSpPr>
      <p:grpSpPr>
        <a:xfrm>
          <a:off x="0" y="0"/>
          <a:ext cx="0" cy="0"/>
          <a:chOff x="0" y="0"/>
          <a:chExt cx="0" cy="0"/>
        </a:xfrm>
      </p:grpSpPr>
      <p:sp>
        <p:nvSpPr>
          <p:cNvPr id="2" name="Shape 0"/>
          <p:cNvSpPr/>
          <p:nvPr/>
        </p:nvSpPr>
        <p:spPr>
          <a:xfrm>
            <a:off x="0" y="666750"/>
            <a:ext cx="9144000" cy="0"/>
          </a:xfrm>
          <a:prstGeom prst="line">
            <a:avLst/>
          </a:prstGeom>
          <a:noFill/>
          <a:ln w="76200">
            <a:solidFill>
              <a:srgbClr val="000000"/>
            </a:solidFill>
            <a:prstDash val="solid"/>
          </a:ln>
        </p:spPr>
      </p:sp>
      <p:pic>
        <p:nvPicPr>
          <p:cNvPr id="3" name="Image 0" descr="preencoded.png">    </p:cNvPr>
          <p:cNvPicPr>
            <a:picLocks noChangeAspect="1"/>
          </p:cNvPicPr>
          <p:nvPr/>
        </p:nvPicPr>
        <p:blipFill>
          <a:blip r:embed="rId1"/>
          <a:stretch>
            <a:fillRect/>
          </a:stretch>
        </p:blipFill>
        <p:spPr>
          <a:xfrm>
            <a:off x="1214438" y="666750"/>
            <a:ext cx="6715125" cy="4476750"/>
          </a:xfrm>
          <a:prstGeom prst="rect">
            <a:avLst/>
          </a:prstGeom>
        </p:spPr>
      </p:pic>
      <p:sp>
        <p:nvSpPr>
          <p:cNvPr id="4" name="Text 1"/>
          <p:cNvSpPr/>
          <p:nvPr/>
        </p:nvSpPr>
        <p:spPr>
          <a:xfrm>
            <a:off x="3124200" y="266700"/>
            <a:ext cx="3505200" cy="285750"/>
          </a:xfrm>
          <a:prstGeom prst="rect">
            <a:avLst/>
          </a:prstGeom>
          <a:noFill/>
          <a:ln/>
        </p:spPr>
        <p:txBody>
          <a:bodyPr wrap="square" rtlCol="0" anchor="ctr"/>
          <a:lstStyle/>
          <a:p>
            <a:pPr algn="ctr" indent="0" marL="0">
              <a:lnSpc>
                <a:spcPts val="2250"/>
              </a:lnSpc>
              <a:buNone/>
            </a:pPr>
            <a:r>
              <a:rPr lang="en-US" sz="2100" spc="210" kern="0" dirty="0">
                <a:solidFill>
                  <a:srgbClr val="000000">
                    <a:alpha val="99000"/>
                  </a:srgbClr>
                </a:solidFill>
                <a:latin typeface="Space Grotesk" pitchFamily="34" charset="0"/>
                <a:ea typeface="Space Grotesk" pitchFamily="34" charset="-122"/>
                <a:cs typeface="Space Grotesk" pitchFamily="34" charset="-120"/>
              </a:rPr>
              <a:t>Prototype UI Design</a:t>
            </a:r>
            <a:endParaRPr lang="en-US" sz="2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0F0"/>
        </a:solidFill>
      </p:bgPr>
    </p:bg>
    <p:spTree>
      <p:nvGrpSpPr>
        <p:cNvPr id="1" name=""/>
        <p:cNvGrpSpPr/>
        <p:nvPr/>
      </p:nvGrpSpPr>
      <p:grpSpPr>
        <a:xfrm>
          <a:off x="0" y="0"/>
          <a:ext cx="0" cy="0"/>
          <a:chOff x="0" y="0"/>
          <a:chExt cx="0" cy="0"/>
        </a:xfrm>
      </p:grpSpPr>
      <p:sp>
        <p:nvSpPr>
          <p:cNvPr id="2" name="Shape 0"/>
          <p:cNvSpPr/>
          <p:nvPr/>
        </p:nvSpPr>
        <p:spPr>
          <a:xfrm rot="5400000">
            <a:off x="2495550" y="2743200"/>
            <a:ext cx="4152900" cy="0"/>
          </a:xfrm>
          <a:prstGeom prst="line">
            <a:avLst/>
          </a:prstGeom>
          <a:noFill/>
          <a:ln w="12700">
            <a:solidFill>
              <a:srgbClr val="000000"/>
            </a:solidFill>
            <a:prstDash val="solid"/>
          </a:ln>
        </p:spPr>
      </p:sp>
      <p:sp>
        <p:nvSpPr>
          <p:cNvPr id="3" name="Shape 1"/>
          <p:cNvSpPr/>
          <p:nvPr/>
        </p:nvSpPr>
        <p:spPr>
          <a:xfrm>
            <a:off x="0" y="4819650"/>
            <a:ext cx="9144000" cy="0"/>
          </a:xfrm>
          <a:prstGeom prst="line">
            <a:avLst/>
          </a:prstGeom>
          <a:noFill/>
          <a:ln w="12700">
            <a:solidFill>
              <a:srgbClr val="000000"/>
            </a:solidFill>
            <a:prstDash val="solid"/>
          </a:ln>
        </p:spPr>
      </p:sp>
      <p:sp>
        <p:nvSpPr>
          <p:cNvPr id="4" name="Shape 2"/>
          <p:cNvSpPr/>
          <p:nvPr/>
        </p:nvSpPr>
        <p:spPr>
          <a:xfrm>
            <a:off x="0" y="2662238"/>
            <a:ext cx="9144000" cy="0"/>
          </a:xfrm>
          <a:prstGeom prst="line">
            <a:avLst/>
          </a:prstGeom>
          <a:noFill/>
          <a:ln w="12700">
            <a:solidFill>
              <a:srgbClr val="000000"/>
            </a:solidFill>
            <a:prstDash val="solid"/>
          </a:ln>
        </p:spPr>
      </p:sp>
      <p:sp>
        <p:nvSpPr>
          <p:cNvPr id="5" name="Shape 3"/>
          <p:cNvSpPr/>
          <p:nvPr/>
        </p:nvSpPr>
        <p:spPr>
          <a:xfrm>
            <a:off x="0" y="666750"/>
            <a:ext cx="9144000" cy="0"/>
          </a:xfrm>
          <a:prstGeom prst="line">
            <a:avLst/>
          </a:prstGeom>
          <a:noFill/>
          <a:ln w="76200">
            <a:solidFill>
              <a:srgbClr val="000000"/>
            </a:solidFill>
            <a:prstDash val="solid"/>
          </a:ln>
        </p:spPr>
      </p:sp>
      <p:sp>
        <p:nvSpPr>
          <p:cNvPr id="6" name="Text 4"/>
          <p:cNvSpPr/>
          <p:nvPr/>
        </p:nvSpPr>
        <p:spPr>
          <a:xfrm>
            <a:off x="4705350" y="742950"/>
            <a:ext cx="4648200" cy="285750"/>
          </a:xfrm>
          <a:prstGeom prst="rect">
            <a:avLst/>
          </a:prstGeom>
          <a:noFill/>
          <a:ln/>
        </p:spPr>
        <p:txBody>
          <a:bodyPr wrap="square" rtlCol="0" anchor="ctr"/>
          <a:lstStyle/>
          <a:p>
            <a:pPr algn="l" indent="0" marL="0">
              <a:lnSpc>
                <a:spcPts val="2250"/>
              </a:lnSpc>
              <a:buNone/>
            </a:pPr>
            <a:r>
              <a:rPr lang="en-US" sz="1350" b="1" spc="27" kern="0" dirty="0">
                <a:solidFill>
                  <a:srgbClr val="000000">
                    <a:alpha val="99000"/>
                  </a:srgbClr>
                </a:solidFill>
                <a:latin typeface="Space Grotesk" pitchFamily="34" charset="0"/>
                <a:ea typeface="Space Grotesk" pitchFamily="34" charset="-122"/>
                <a:cs typeface="Space Grotesk" pitchFamily="34" charset="-120"/>
              </a:rPr>
              <a:t>The Social Graph</a:t>
            </a:r>
            <a:endParaRPr lang="en-US" sz="1350" dirty="0"/>
          </a:p>
        </p:txBody>
      </p:sp>
      <p:sp>
        <p:nvSpPr>
          <p:cNvPr id="7" name="Text 5"/>
          <p:cNvSpPr/>
          <p:nvPr/>
        </p:nvSpPr>
        <p:spPr>
          <a:xfrm>
            <a:off x="4495800" y="2062163"/>
            <a:ext cx="457200" cy="190500"/>
          </a:xfrm>
          <a:prstGeom prst="rect">
            <a:avLst/>
          </a:prstGeom>
          <a:noFill/>
          <a:ln/>
        </p:spPr>
        <p:txBody>
          <a:bodyPr wrap="square" rtlCol="0" anchor="ctr"/>
          <a:lstStyle/>
          <a:p>
            <a:pPr indent="0" marL="0">
              <a:buNone/>
            </a:pPr>
            <a:endParaRPr lang="en-US" dirty="0"/>
          </a:p>
        </p:txBody>
      </p:sp>
      <p:sp>
        <p:nvSpPr>
          <p:cNvPr id="8" name="Text 6"/>
          <p:cNvSpPr/>
          <p:nvPr/>
        </p:nvSpPr>
        <p:spPr>
          <a:xfrm>
            <a:off x="114300" y="2805113"/>
            <a:ext cx="4648200" cy="285750"/>
          </a:xfrm>
          <a:prstGeom prst="rect">
            <a:avLst/>
          </a:prstGeom>
          <a:noFill/>
          <a:ln/>
        </p:spPr>
        <p:txBody>
          <a:bodyPr wrap="square" rtlCol="0" anchor="ctr"/>
          <a:lstStyle/>
          <a:p>
            <a:pPr algn="l" indent="0" marL="0">
              <a:lnSpc>
                <a:spcPts val="2250"/>
              </a:lnSpc>
              <a:buNone/>
            </a:pPr>
            <a:r>
              <a:rPr lang="en-US" sz="1350" b="1" spc="27" kern="0" dirty="0">
                <a:solidFill>
                  <a:srgbClr val="000000">
                    <a:alpha val="99000"/>
                  </a:srgbClr>
                </a:solidFill>
                <a:latin typeface="Space Grotesk" pitchFamily="34" charset="0"/>
                <a:ea typeface="Space Grotesk" pitchFamily="34" charset="-122"/>
                <a:cs typeface="Space Grotesk" pitchFamily="34" charset="-120"/>
              </a:rPr>
              <a:t>Content Creation &amp; Interaction</a:t>
            </a:r>
            <a:endParaRPr lang="en-US" sz="1350" dirty="0"/>
          </a:p>
        </p:txBody>
      </p:sp>
      <p:sp>
        <p:nvSpPr>
          <p:cNvPr id="9" name="Text 7"/>
          <p:cNvSpPr/>
          <p:nvPr/>
        </p:nvSpPr>
        <p:spPr>
          <a:xfrm>
            <a:off x="4705350" y="2805113"/>
            <a:ext cx="4648200" cy="285750"/>
          </a:xfrm>
          <a:prstGeom prst="rect">
            <a:avLst/>
          </a:prstGeom>
          <a:noFill/>
          <a:ln/>
        </p:spPr>
        <p:txBody>
          <a:bodyPr wrap="square" rtlCol="0" anchor="ctr"/>
          <a:lstStyle/>
          <a:p>
            <a:pPr algn="l" indent="0" marL="0">
              <a:lnSpc>
                <a:spcPts val="2250"/>
              </a:lnSpc>
              <a:buNone/>
            </a:pPr>
            <a:r>
              <a:rPr lang="en-US" sz="1350" b="1" spc="27" kern="0" dirty="0">
                <a:solidFill>
                  <a:srgbClr val="000000">
                    <a:alpha val="99000"/>
                  </a:srgbClr>
                </a:solidFill>
                <a:latin typeface="Space Grotesk" pitchFamily="34" charset="0"/>
                <a:ea typeface="Space Grotesk" pitchFamily="34" charset="-122"/>
                <a:cs typeface="Space Grotesk" pitchFamily="34" charset="-120"/>
              </a:rPr>
              <a:t>Content Consumption</a:t>
            </a:r>
            <a:endParaRPr lang="en-US" sz="1350" dirty="0"/>
          </a:p>
        </p:txBody>
      </p:sp>
      <p:sp>
        <p:nvSpPr>
          <p:cNvPr id="10" name="Text 8"/>
          <p:cNvSpPr/>
          <p:nvPr/>
        </p:nvSpPr>
        <p:spPr>
          <a:xfrm>
            <a:off x="114300" y="742950"/>
            <a:ext cx="4648200" cy="285750"/>
          </a:xfrm>
          <a:prstGeom prst="rect">
            <a:avLst/>
          </a:prstGeom>
          <a:noFill/>
          <a:ln/>
        </p:spPr>
        <p:txBody>
          <a:bodyPr wrap="square" rtlCol="0" anchor="ctr"/>
          <a:lstStyle/>
          <a:p>
            <a:pPr algn="l" indent="0" marL="0">
              <a:lnSpc>
                <a:spcPts val="2250"/>
              </a:lnSpc>
              <a:buNone/>
            </a:pPr>
            <a:r>
              <a:rPr lang="en-US" sz="1350" b="1" spc="27" kern="0" dirty="0">
                <a:solidFill>
                  <a:srgbClr val="000000">
                    <a:alpha val="99000"/>
                  </a:srgbClr>
                </a:solidFill>
                <a:latin typeface="Space Grotesk" pitchFamily="34" charset="0"/>
                <a:ea typeface="Space Grotesk" pitchFamily="34" charset="-122"/>
                <a:cs typeface="Space Grotesk" pitchFamily="34" charset="-120"/>
              </a:rPr>
              <a:t>Account &amp; Profile</a:t>
            </a:r>
            <a:endParaRPr lang="en-US" sz="1350" dirty="0"/>
          </a:p>
        </p:txBody>
      </p:sp>
      <p:sp>
        <p:nvSpPr>
          <p:cNvPr id="11" name="Text 9"/>
          <p:cNvSpPr/>
          <p:nvPr/>
        </p:nvSpPr>
        <p:spPr>
          <a:xfrm>
            <a:off x="3648075" y="190500"/>
            <a:ext cx="2309813" cy="285750"/>
          </a:xfrm>
          <a:prstGeom prst="rect">
            <a:avLst/>
          </a:prstGeom>
          <a:noFill/>
          <a:ln/>
        </p:spPr>
        <p:txBody>
          <a:bodyPr wrap="square" rtlCol="0" anchor="ctr"/>
          <a:lstStyle/>
          <a:p>
            <a:pPr algn="ctr" indent="0" marL="0">
              <a:lnSpc>
                <a:spcPts val="2250"/>
              </a:lnSpc>
              <a:buNone/>
            </a:pPr>
            <a:r>
              <a:rPr lang="en-US" sz="2100" spc="210" kern="0" dirty="0">
                <a:solidFill>
                  <a:srgbClr val="000000">
                    <a:alpha val="99000"/>
                  </a:srgbClr>
                </a:solidFill>
                <a:latin typeface="Space Grotesk" pitchFamily="34" charset="0"/>
                <a:ea typeface="Space Grotesk" pitchFamily="34" charset="-122"/>
                <a:cs typeface="Space Grotesk" pitchFamily="34" charset="-120"/>
              </a:rPr>
              <a:t>User Stories</a:t>
            </a:r>
            <a:endParaRPr lang="en-US" sz="2100" dirty="0"/>
          </a:p>
        </p:txBody>
      </p:sp>
      <p:sp>
        <p:nvSpPr>
          <p:cNvPr id="12" name="Text 10"/>
          <p:cNvSpPr/>
          <p:nvPr/>
        </p:nvSpPr>
        <p:spPr>
          <a:xfrm>
            <a:off x="7353300" y="4919663"/>
            <a:ext cx="2057400" cy="123825"/>
          </a:xfrm>
          <a:prstGeom prst="rect">
            <a:avLst/>
          </a:prstGeom>
          <a:noFill/>
          <a:ln/>
        </p:spPr>
        <p:txBody>
          <a:bodyPr wrap="square" rtlCol="0" anchor="ctr"/>
          <a:lstStyle/>
          <a:p>
            <a:pPr algn="r" indent="0" marL="0">
              <a:lnSpc>
                <a:spcPts val="975"/>
              </a:lnSpc>
              <a:buNone/>
            </a:pPr>
            <a:r>
              <a:rPr lang="en-US" sz="900" dirty="0">
                <a:solidFill>
                  <a:srgbClr val="000000">
                    <a:alpha val="99000"/>
                  </a:srgbClr>
                </a:solidFill>
                <a:latin typeface="Almarai" pitchFamily="34" charset="0"/>
                <a:ea typeface="Almarai" pitchFamily="34" charset="-122"/>
                <a:cs typeface="Almarai" pitchFamily="34" charset="-120"/>
              </a:rPr>
              <a:t>(Crafted with INVEST Principles)</a:t>
            </a:r>
            <a:endParaRPr lang="en-US" sz="900" dirty="0"/>
          </a:p>
        </p:txBody>
      </p:sp>
      <p:sp>
        <p:nvSpPr>
          <p:cNvPr id="13" name="Text 11"/>
          <p:cNvSpPr/>
          <p:nvPr/>
        </p:nvSpPr>
        <p:spPr>
          <a:xfrm>
            <a:off x="114300" y="1104900"/>
            <a:ext cx="4838700" cy="1200150"/>
          </a:xfrm>
          <a:prstGeom prst="rect">
            <a:avLst/>
          </a:prstGeom>
          <a:noFill/>
          <a:ln/>
        </p:spPr>
        <p:txBody>
          <a:bodyPr wrap="square" rtlCol="0" anchor="ctr"/>
          <a:lstStyle/>
          <a:p>
            <a:pPr algn="l" marL="342900" indent="-342900">
              <a:lnSpc>
                <a:spcPts val="1050"/>
              </a:lnSpc>
              <a:buSzPct val="100000"/>
              <a:buChar char="•"/>
            </a:pPr>
            <a:r>
              <a:rPr lang="en-US" sz="1050" spc="21" kern="0" dirty="0">
                <a:solidFill>
                  <a:srgbClr val="000000">
                    <a:alpha val="99000"/>
                  </a:srgbClr>
                </a:solidFill>
                <a:latin typeface="Space Grotesk" pitchFamily="34" charset="0"/>
                <a:ea typeface="Space Grotesk" pitchFamily="34" charset="-122"/>
                <a:cs typeface="Space Grotesk" pitchFamily="34" charset="-120"/>
              </a:rPr>
              <a:t>As a new user, I want to sign up with a unique username, email, and password on Squawk.</a:t>
            </a:r>
            <a:endParaRPr lang="en-US" sz="1050" dirty="0"/>
          </a:p>
          <a:p>
            <a:pPr algn="l" marL="342900" indent="-342900">
              <a:lnSpc>
                <a:spcPts val="1050"/>
              </a:lnSpc>
              <a:buSzPct val="100000"/>
              <a:buChar char="•"/>
            </a:pPr>
            <a:r>
              <a:rPr lang="en-US" sz="1050" spc="21" kern="0" dirty="0">
                <a:solidFill>
                  <a:srgbClr val="000000">
                    <a:alpha val="99000"/>
                  </a:srgbClr>
                </a:solidFill>
                <a:latin typeface="Space Grotesk" pitchFamily="34" charset="0"/>
                <a:ea typeface="Space Grotesk" pitchFamily="34" charset="-122"/>
                <a:cs typeface="Space Grotesk" pitchFamily="34" charset="-120"/>
              </a:rPr>
              <a:t>As a registered user, I want to log in with my registered account on Squawk.</a:t>
            </a:r>
            <a:endParaRPr lang="en-US" sz="1050" dirty="0"/>
          </a:p>
          <a:p>
            <a:pPr algn="l" marL="342900" indent="-342900">
              <a:lnSpc>
                <a:spcPts val="1050"/>
              </a:lnSpc>
              <a:buSzPct val="100000"/>
              <a:buChar char="•"/>
            </a:pPr>
            <a:r>
              <a:rPr lang="en-US" sz="1050" spc="21" kern="0" dirty="0">
                <a:solidFill>
                  <a:srgbClr val="000000">
                    <a:alpha val="99000"/>
                  </a:srgbClr>
                </a:solidFill>
                <a:latin typeface="Space Grotesk" pitchFamily="34" charset="0"/>
                <a:ea typeface="Space Grotesk" pitchFamily="34" charset="-122"/>
                <a:cs typeface="Space Grotesk" pitchFamily="34" charset="-120"/>
              </a:rPr>
              <a:t>As a logged-in user, I want to view profile page of mine, so that I can see my bio and a list of all my past Squawks.</a:t>
            </a:r>
            <a:endParaRPr lang="en-US" sz="1050" dirty="0"/>
          </a:p>
        </p:txBody>
      </p:sp>
      <p:sp>
        <p:nvSpPr>
          <p:cNvPr id="14" name="Text 12"/>
          <p:cNvSpPr/>
          <p:nvPr/>
        </p:nvSpPr>
        <p:spPr>
          <a:xfrm>
            <a:off x="114300" y="3090863"/>
            <a:ext cx="4632081" cy="1600200"/>
          </a:xfrm>
          <a:prstGeom prst="rect">
            <a:avLst/>
          </a:prstGeom>
          <a:noFill/>
          <a:ln/>
        </p:spPr>
        <p:txBody>
          <a:bodyPr wrap="square" rtlCol="0" anchor="ctr"/>
          <a:lstStyle/>
          <a:p>
            <a:pPr algn="l" marL="342900" indent="-342900">
              <a:lnSpc>
                <a:spcPts val="1050"/>
              </a:lnSpc>
              <a:buSzPct val="100000"/>
              <a:buChar char="•"/>
            </a:pPr>
            <a:r>
              <a:rPr lang="en-US" sz="1050" spc="21" kern="0" dirty="0">
                <a:solidFill>
                  <a:srgbClr val="000000">
                    <a:alpha val="99000"/>
                  </a:srgbClr>
                </a:solidFill>
                <a:latin typeface="Space Grotesk" pitchFamily="34" charset="0"/>
                <a:ea typeface="Space Grotesk" pitchFamily="34" charset="-122"/>
                <a:cs typeface="Space Grotesk" pitchFamily="34" charset="-120"/>
              </a:rPr>
              <a:t>As a logged-in user, I want to publish a short text message (a "Squawk"), so that I can share my thoughts with my followers.</a:t>
            </a:r>
            <a:endParaRPr lang="en-US" sz="1050" dirty="0"/>
          </a:p>
          <a:p>
            <a:pPr algn="l" marL="342900" indent="-342900">
              <a:lnSpc>
                <a:spcPts val="1050"/>
              </a:lnSpc>
              <a:buSzPct val="100000"/>
              <a:buChar char="•"/>
            </a:pPr>
            <a:r>
              <a:rPr lang="en-US" sz="1050" spc="21" kern="0" dirty="0">
                <a:solidFill>
                  <a:srgbClr val="000000">
                    <a:alpha val="99000"/>
                  </a:srgbClr>
                </a:solidFill>
                <a:latin typeface="Space Grotesk" pitchFamily="34" charset="0"/>
                <a:ea typeface="Space Grotesk" pitchFamily="34" charset="-122"/>
                <a:cs typeface="Space Grotesk" pitchFamily="34" charset="-120"/>
              </a:rPr>
              <a:t>As a user viewing a Squawk, I want to "Like" it, so that I can show appreciation and the author can see it.</a:t>
            </a:r>
            <a:endParaRPr lang="en-US" sz="1050" dirty="0"/>
          </a:p>
          <a:p>
            <a:pPr algn="l" marL="342900" indent="-342900">
              <a:lnSpc>
                <a:spcPts val="1050"/>
              </a:lnSpc>
              <a:buSzPct val="100000"/>
              <a:buChar char="•"/>
            </a:pPr>
            <a:r>
              <a:rPr lang="en-US" sz="1050" spc="21" kern="0" dirty="0">
                <a:solidFill>
                  <a:srgbClr val="000000">
                    <a:alpha val="99000"/>
                  </a:srgbClr>
                </a:solidFill>
                <a:latin typeface="Space Grotesk" pitchFamily="34" charset="0"/>
                <a:ea typeface="Space Grotesk" pitchFamily="34" charset="-122"/>
                <a:cs typeface="Space Grotesk" pitchFamily="34" charset="-120"/>
              </a:rPr>
              <a:t>As a user viewing a Squawk, I want to Resquawk it, so that I can share it with my own followers.</a:t>
            </a:r>
            <a:endParaRPr lang="en-US" sz="1050" dirty="0"/>
          </a:p>
          <a:p>
            <a:pPr algn="l" marL="342900" indent="-342900">
              <a:lnSpc>
                <a:spcPts val="1050"/>
              </a:lnSpc>
              <a:buSzPct val="100000"/>
              <a:buChar char="•"/>
            </a:pPr>
            <a:r>
              <a:rPr lang="en-US" sz="1050" spc="21" kern="0" dirty="0">
                <a:solidFill>
                  <a:srgbClr val="000000">
                    <a:alpha val="99000"/>
                  </a:srgbClr>
                </a:solidFill>
                <a:latin typeface="Space Grotesk" pitchFamily="34" charset="0"/>
                <a:ea typeface="Space Grotesk" pitchFamily="34" charset="-122"/>
                <a:cs typeface="Space Grotesk" pitchFamily="34" charset="-120"/>
              </a:rPr>
              <a:t>As a user viewing a Squawk, I want to post a reply to it, so that I can engage in a public conversation.</a:t>
            </a:r>
            <a:endParaRPr lang="en-US" sz="1050" dirty="0"/>
          </a:p>
        </p:txBody>
      </p:sp>
      <p:sp>
        <p:nvSpPr>
          <p:cNvPr id="15" name="Text 13"/>
          <p:cNvSpPr/>
          <p:nvPr/>
        </p:nvSpPr>
        <p:spPr>
          <a:xfrm>
            <a:off x="4638675" y="3090863"/>
            <a:ext cx="4783840" cy="1066800"/>
          </a:xfrm>
          <a:prstGeom prst="rect">
            <a:avLst/>
          </a:prstGeom>
          <a:noFill/>
          <a:ln/>
        </p:spPr>
        <p:txBody>
          <a:bodyPr wrap="square" rtlCol="0" anchor="ctr"/>
          <a:lstStyle/>
          <a:p>
            <a:pPr algn="l" marL="342900" indent="-342900">
              <a:lnSpc>
                <a:spcPts val="1050"/>
              </a:lnSpc>
              <a:buSzPct val="100000"/>
              <a:buChar char="•"/>
            </a:pPr>
            <a:r>
              <a:rPr lang="en-US" sz="1050" spc="21" kern="0" dirty="0">
                <a:solidFill>
                  <a:srgbClr val="000000">
                    <a:alpha val="99000"/>
                  </a:srgbClr>
                </a:solidFill>
                <a:latin typeface="Space Grotesk" pitchFamily="34" charset="0"/>
                <a:ea typeface="Space Grotesk" pitchFamily="34" charset="-122"/>
                <a:cs typeface="Space Grotesk" pitchFamily="34" charset="-120"/>
              </a:rPr>
              <a:t>As a logged-in user, I want to view a chronological feed on my homepage containing Squawks and Resquawks from users I follow, so that I can see the latest content.</a:t>
            </a:r>
            <a:endParaRPr lang="en-US" sz="1050" dirty="0"/>
          </a:p>
          <a:p>
            <a:pPr algn="l" marL="342900" indent="-342900">
              <a:lnSpc>
                <a:spcPts val="1050"/>
              </a:lnSpc>
              <a:buSzPct val="100000"/>
              <a:buChar char="•"/>
            </a:pPr>
            <a:r>
              <a:rPr lang="en-US" sz="1050" spc="21" kern="0" dirty="0">
                <a:solidFill>
                  <a:srgbClr val="000000">
                    <a:alpha val="99000"/>
                  </a:srgbClr>
                </a:solidFill>
                <a:latin typeface="Space Grotesk" pitchFamily="34" charset="0"/>
                <a:ea typeface="Space Grotesk" pitchFamily="34" charset="-122"/>
                <a:cs typeface="Space Grotesk" pitchFamily="34" charset="-120"/>
              </a:rPr>
              <a:t>As a user, I want to click on any Squawk in my feed to view it as a standalone page with its full conversation thread (replies), so that I can understand the context of the discussion.</a:t>
            </a:r>
            <a:endParaRPr lang="en-US" sz="1050" dirty="0"/>
          </a:p>
        </p:txBody>
      </p:sp>
      <p:sp>
        <p:nvSpPr>
          <p:cNvPr id="16" name="Text 14"/>
          <p:cNvSpPr/>
          <p:nvPr/>
        </p:nvSpPr>
        <p:spPr>
          <a:xfrm>
            <a:off x="4638675" y="1104900"/>
            <a:ext cx="4881563" cy="800100"/>
          </a:xfrm>
          <a:prstGeom prst="rect">
            <a:avLst/>
          </a:prstGeom>
          <a:noFill/>
          <a:ln/>
        </p:spPr>
        <p:txBody>
          <a:bodyPr wrap="square" rtlCol="0" anchor="ctr"/>
          <a:lstStyle/>
          <a:p>
            <a:pPr algn="l" marL="342900" indent="-342900">
              <a:lnSpc>
                <a:spcPts val="1050"/>
              </a:lnSpc>
              <a:buSzPct val="100000"/>
              <a:buChar char="•"/>
            </a:pPr>
            <a:r>
              <a:rPr lang="en-US" sz="1050" spc="21" kern="0" dirty="0">
                <a:solidFill>
                  <a:srgbClr val="000000">
                    <a:alpha val="99000"/>
                  </a:srgbClr>
                </a:solidFill>
                <a:latin typeface="Space Grotesk" pitchFamily="34" charset="0"/>
                <a:ea typeface="Space Grotesk" pitchFamily="34" charset="-122"/>
                <a:cs typeface="Space Grotesk" pitchFamily="34" charset="-120"/>
              </a:rPr>
              <a:t>As a user on someone else's profile, I want a "Follow" button, so that I can subscribe to their content.</a:t>
            </a:r>
            <a:endParaRPr lang="en-US" sz="1050" dirty="0"/>
          </a:p>
          <a:p>
            <a:pPr algn="l" marL="342900" indent="-342900">
              <a:lnSpc>
                <a:spcPts val="1050"/>
              </a:lnSpc>
              <a:buSzPct val="100000"/>
              <a:buChar char="•"/>
            </a:pPr>
            <a:r>
              <a:rPr lang="en-US" sz="1050" spc="21" kern="0" dirty="0">
                <a:solidFill>
                  <a:srgbClr val="000000">
                    <a:alpha val="99000"/>
                  </a:srgbClr>
                </a:solidFill>
                <a:latin typeface="Space Grotesk" pitchFamily="34" charset="0"/>
                <a:ea typeface="Space Grotesk" pitchFamily="34" charset="-122"/>
                <a:cs typeface="Space Grotesk" pitchFamily="34" charset="-120"/>
              </a:rPr>
              <a:t>As a user on the profile of someone I follow, I want an "Unfollow" button, so that I can stop seeing their content in my feed.</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0F0"/>
        </a:solidFill>
      </p:bgPr>
    </p:bg>
    <p:spTree>
      <p:nvGrpSpPr>
        <p:cNvPr id="1" name=""/>
        <p:cNvGrpSpPr/>
        <p:nvPr/>
      </p:nvGrpSpPr>
      <p:grpSpPr>
        <a:xfrm>
          <a:off x="0" y="0"/>
          <a:ext cx="0" cy="0"/>
          <a:chOff x="0" y="0"/>
          <a:chExt cx="0" cy="0"/>
        </a:xfrm>
      </p:grpSpPr>
      <p:sp>
        <p:nvSpPr>
          <p:cNvPr id="2" name="Shape 0"/>
          <p:cNvSpPr/>
          <p:nvPr/>
        </p:nvSpPr>
        <p:spPr>
          <a:xfrm>
            <a:off x="0" y="666750"/>
            <a:ext cx="9144000" cy="0"/>
          </a:xfrm>
          <a:prstGeom prst="line">
            <a:avLst/>
          </a:prstGeom>
          <a:noFill/>
          <a:ln w="76200">
            <a:solidFill>
              <a:srgbClr val="000000"/>
            </a:solidFill>
            <a:prstDash val="solid"/>
          </a:ln>
        </p:spPr>
      </p:sp>
      <p:pic>
        <p:nvPicPr>
          <p:cNvPr id="3" name="Image 0" descr="preencoded.png">    </p:cNvPr>
          <p:cNvPicPr>
            <a:picLocks noChangeAspect="1"/>
          </p:cNvPicPr>
          <p:nvPr/>
        </p:nvPicPr>
        <p:blipFill>
          <a:blip r:embed="rId1"/>
          <a:stretch>
            <a:fillRect/>
          </a:stretch>
        </p:blipFill>
        <p:spPr>
          <a:xfrm>
            <a:off x="80963" y="1028700"/>
            <a:ext cx="8982075" cy="3086100"/>
          </a:xfrm>
          <a:prstGeom prst="rect">
            <a:avLst/>
          </a:prstGeom>
        </p:spPr>
      </p:pic>
      <p:sp>
        <p:nvSpPr>
          <p:cNvPr id="4" name="Text 1"/>
          <p:cNvSpPr/>
          <p:nvPr/>
        </p:nvSpPr>
        <p:spPr>
          <a:xfrm>
            <a:off x="3271838" y="190500"/>
            <a:ext cx="3057525" cy="571500"/>
          </a:xfrm>
          <a:prstGeom prst="rect">
            <a:avLst/>
          </a:prstGeom>
          <a:noFill/>
          <a:ln/>
        </p:spPr>
        <p:txBody>
          <a:bodyPr wrap="square" rtlCol="0" anchor="ctr"/>
          <a:lstStyle/>
          <a:p>
            <a:pPr algn="ctr" indent="0" marL="0">
              <a:lnSpc>
                <a:spcPts val="2250"/>
              </a:lnSpc>
              <a:buNone/>
            </a:pPr>
            <a:r>
              <a:rPr lang="en-US" sz="2100" spc="210" kern="0" dirty="0">
                <a:solidFill>
                  <a:srgbClr val="000000">
                    <a:alpha val="99000"/>
                  </a:srgbClr>
                </a:solidFill>
                <a:latin typeface="Space Grotesk" pitchFamily="34" charset="0"/>
                <a:ea typeface="Space Grotesk" pitchFamily="34" charset="-122"/>
                <a:cs typeface="Space Grotesk" pitchFamily="34" charset="-120"/>
              </a:rPr>
              <a:t>Product Backlog </a:t>
            </a:r>
            <a:endParaRPr lang="en-US" sz="2100" dirty="0"/>
          </a:p>
        </p:txBody>
      </p:sp>
      <p:sp>
        <p:nvSpPr>
          <p:cNvPr id="5" name="Text 2"/>
          <p:cNvSpPr/>
          <p:nvPr/>
        </p:nvSpPr>
        <p:spPr>
          <a:xfrm>
            <a:off x="1519238" y="4819650"/>
            <a:ext cx="6567488" cy="228600"/>
          </a:xfrm>
          <a:prstGeom prst="rect">
            <a:avLst/>
          </a:prstGeom>
          <a:noFill/>
          <a:ln/>
        </p:spPr>
        <p:txBody>
          <a:bodyPr wrap="square" rtlCol="0" anchor="ctr"/>
          <a:lstStyle/>
          <a:p>
            <a:pPr algn="l" indent="0" marL="0">
              <a:lnSpc>
                <a:spcPts val="1110"/>
              </a:lnSpc>
              <a:buNone/>
            </a:pPr>
            <a:r>
              <a:rPr lang="en-US" sz="1025" dirty="0">
                <a:solidFill>
                  <a:srgbClr val="000000">
                    <a:alpha val="99000"/>
                  </a:srgbClr>
                </a:solidFill>
                <a:latin typeface="Almarai" pitchFamily="34" charset="0"/>
                <a:ea typeface="Almarai" pitchFamily="34" charset="-122"/>
                <a:cs typeface="Almarai" pitchFamily="34" charset="-120"/>
              </a:rPr>
              <a:t>Based on </a:t>
            </a:r>
            <a:pPr algn="l" indent="0" marL="0">
              <a:lnSpc>
                <a:spcPts val="1110"/>
              </a:lnSpc>
              <a:buNone/>
            </a:pPr>
            <a:r>
              <a:rPr lang="en-US" sz="1025" b="1" dirty="0">
                <a:solidFill>
                  <a:srgbClr val="000000">
                    <a:alpha val="99000"/>
                  </a:srgbClr>
                </a:solidFill>
                <a:latin typeface="Almarai" pitchFamily="34" charset="0"/>
                <a:ea typeface="Almarai" pitchFamily="34" charset="-122"/>
                <a:cs typeface="Almarai" pitchFamily="34" charset="-120"/>
              </a:rPr>
              <a:t>DEEP</a:t>
            </a:r>
            <a:pPr algn="l" indent="0" marL="0">
              <a:lnSpc>
                <a:spcPts val="1110"/>
              </a:lnSpc>
              <a:buNone/>
            </a:pPr>
            <a:r>
              <a:rPr lang="en-US" sz="1025" dirty="0">
                <a:solidFill>
                  <a:srgbClr val="000000">
                    <a:alpha val="99000"/>
                  </a:srgbClr>
                </a:solidFill>
                <a:latin typeface="Almarai" pitchFamily="34" charset="0"/>
                <a:ea typeface="Almarai" pitchFamily="34" charset="-122"/>
                <a:cs typeface="Almarai" pitchFamily="34" charset="-120"/>
              </a:rPr>
              <a:t> principle: </a:t>
            </a:r>
            <a:pPr algn="l" indent="0" marL="0">
              <a:lnSpc>
                <a:spcPts val="1800"/>
              </a:lnSpc>
              <a:buNone/>
            </a:pPr>
            <a:r>
              <a:rPr lang="en-US" sz="1350" b="1" dirty="0">
                <a:solidFill>
                  <a:srgbClr val="000000">
                    <a:alpha val="99000"/>
                  </a:srgbClr>
                </a:solidFill>
                <a:latin typeface="Almarai" pitchFamily="34" charset="0"/>
                <a:ea typeface="Almarai" pitchFamily="34" charset="-122"/>
                <a:cs typeface="Almarai" pitchFamily="34" charset="-120"/>
              </a:rPr>
              <a:t>D</a:t>
            </a:r>
            <a:pPr algn="l" indent="0" marL="0">
              <a:lnSpc>
                <a:spcPts val="1800"/>
              </a:lnSpc>
              <a:buNone/>
            </a:pPr>
            <a:r>
              <a:rPr lang="en-US" sz="1350" dirty="0">
                <a:solidFill>
                  <a:srgbClr val="000000">
                    <a:alpha val="99000"/>
                  </a:srgbClr>
                </a:solidFill>
                <a:latin typeface="Almarai" pitchFamily="34" charset="0"/>
                <a:ea typeface="Almarai" pitchFamily="34" charset="-122"/>
                <a:cs typeface="Almarai" pitchFamily="34" charset="-120"/>
              </a:rPr>
              <a:t>etailed Appropriately / </a:t>
            </a:r>
            <a:pPr algn="l" indent="0" marL="0">
              <a:lnSpc>
                <a:spcPts val="1800"/>
              </a:lnSpc>
              <a:buNone/>
            </a:pPr>
            <a:r>
              <a:rPr lang="en-US" sz="1350" b="1" dirty="0">
                <a:solidFill>
                  <a:srgbClr val="000000">
                    <a:alpha val="99000"/>
                  </a:srgbClr>
                </a:solidFill>
                <a:latin typeface="Almarai" pitchFamily="34" charset="0"/>
                <a:ea typeface="Almarai" pitchFamily="34" charset="-122"/>
                <a:cs typeface="Almarai" pitchFamily="34" charset="-120"/>
              </a:rPr>
              <a:t>E</a:t>
            </a:r>
            <a:pPr algn="l" indent="0" marL="0">
              <a:lnSpc>
                <a:spcPts val="1800"/>
              </a:lnSpc>
              <a:buNone/>
            </a:pPr>
            <a:r>
              <a:rPr lang="en-US" sz="1350" dirty="0">
                <a:solidFill>
                  <a:srgbClr val="000000">
                    <a:alpha val="99000"/>
                  </a:srgbClr>
                </a:solidFill>
                <a:latin typeface="Almarai" pitchFamily="34" charset="0"/>
                <a:ea typeface="Almarai" pitchFamily="34" charset="-122"/>
                <a:cs typeface="Almarai" pitchFamily="34" charset="-120"/>
              </a:rPr>
              <a:t>mergent / </a:t>
            </a:r>
            <a:pPr algn="l" indent="0" marL="0">
              <a:lnSpc>
                <a:spcPts val="1800"/>
              </a:lnSpc>
              <a:buNone/>
            </a:pPr>
            <a:r>
              <a:rPr lang="en-US" sz="1350" b="1" dirty="0">
                <a:solidFill>
                  <a:srgbClr val="000000">
                    <a:alpha val="99000"/>
                  </a:srgbClr>
                </a:solidFill>
                <a:latin typeface="Almarai" pitchFamily="34" charset="0"/>
                <a:ea typeface="Almarai" pitchFamily="34" charset="-122"/>
                <a:cs typeface="Almarai" pitchFamily="34" charset="-120"/>
              </a:rPr>
              <a:t>E</a:t>
            </a:r>
            <a:pPr algn="l" indent="0" marL="0">
              <a:lnSpc>
                <a:spcPts val="1800"/>
              </a:lnSpc>
              <a:buNone/>
            </a:pPr>
            <a:r>
              <a:rPr lang="en-US" sz="1350" dirty="0">
                <a:solidFill>
                  <a:srgbClr val="000000">
                    <a:alpha val="99000"/>
                  </a:srgbClr>
                </a:solidFill>
                <a:latin typeface="Almarai" pitchFamily="34" charset="0"/>
                <a:ea typeface="Almarai" pitchFamily="34" charset="-122"/>
                <a:cs typeface="Almarai" pitchFamily="34" charset="-120"/>
              </a:rPr>
              <a:t>stimated /</a:t>
            </a:r>
            <a:pPr algn="l" indent="0" marL="0">
              <a:lnSpc>
                <a:spcPts val="1800"/>
              </a:lnSpc>
              <a:buNone/>
            </a:pPr>
            <a:r>
              <a:rPr lang="en-US" sz="1350" b="1" dirty="0">
                <a:solidFill>
                  <a:srgbClr val="000000">
                    <a:alpha val="99000"/>
                  </a:srgbClr>
                </a:solidFill>
                <a:latin typeface="Almarai" pitchFamily="34" charset="0"/>
                <a:ea typeface="Almarai" pitchFamily="34" charset="-122"/>
                <a:cs typeface="Almarai" pitchFamily="34" charset="-120"/>
              </a:rPr>
              <a:t>P</a:t>
            </a:r>
            <a:pPr algn="l" indent="0" marL="0">
              <a:lnSpc>
                <a:spcPts val="1800"/>
              </a:lnSpc>
              <a:buNone/>
            </a:pPr>
            <a:r>
              <a:rPr lang="en-US" sz="1350" dirty="0">
                <a:solidFill>
                  <a:srgbClr val="000000">
                    <a:alpha val="99000"/>
                  </a:srgbClr>
                </a:solidFill>
                <a:latin typeface="Almarai" pitchFamily="34" charset="0"/>
                <a:ea typeface="Almarai" pitchFamily="34" charset="-122"/>
                <a:cs typeface="Almarai" pitchFamily="34" charset="-120"/>
              </a:rPr>
              <a:t>rioritized</a:t>
            </a:r>
            <a:endParaRPr lang="en-US" sz="1025" dirty="0"/>
          </a:p>
        </p:txBody>
      </p:sp>
      <p:sp>
        <p:nvSpPr>
          <p:cNvPr id="6" name="Text 3"/>
          <p:cNvSpPr/>
          <p:nvPr/>
        </p:nvSpPr>
        <p:spPr>
          <a:xfrm>
            <a:off x="2295525" y="4757738"/>
            <a:ext cx="457200" cy="123825"/>
          </a:xfrm>
          <a:prstGeom prst="rect">
            <a:avLst/>
          </a:prstGeom>
          <a:noFill/>
          <a:ln/>
        </p:spPr>
        <p:txBody>
          <a:bodyPr wrap="square" rtlCol="0" anchor="ctr"/>
          <a:lstStyle/>
          <a:p>
            <a:pPr algn="r" indent="0" marL="0">
              <a:lnSpc>
                <a:spcPts val="975"/>
              </a:lnSpc>
              <a:buNone/>
            </a:pPr>
            <a:r>
              <a:rPr lang="en-US" sz="900" dirty="0">
                <a:solidFill>
                  <a:srgbClr val="000000">
                    <a:alpha val="99000"/>
                  </a:srgbClr>
                </a:solidFill>
                <a:latin typeface="Almarai" pitchFamily="34" charset="0"/>
                <a:ea typeface="Almarai" pitchFamily="34" charset="-122"/>
                <a:cs typeface="Almarai" pitchFamily="34" charset="-120"/>
              </a:rPr>
              <a:t> </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0F0"/>
        </a:solidFill>
      </p:bgPr>
    </p:bg>
    <p:spTree>
      <p:nvGrpSpPr>
        <p:cNvPr id="1" name=""/>
        <p:cNvGrpSpPr/>
        <p:nvPr/>
      </p:nvGrpSpPr>
      <p:grpSpPr>
        <a:xfrm>
          <a:off x="0" y="0"/>
          <a:ext cx="0" cy="0"/>
          <a:chOff x="0" y="0"/>
          <a:chExt cx="0" cy="0"/>
        </a:xfrm>
      </p:grpSpPr>
      <p:sp>
        <p:nvSpPr>
          <p:cNvPr id="2" name="Shape 0"/>
          <p:cNvSpPr/>
          <p:nvPr/>
        </p:nvSpPr>
        <p:spPr>
          <a:xfrm>
            <a:off x="4763" y="938213"/>
            <a:ext cx="9144000" cy="0"/>
          </a:xfrm>
          <a:prstGeom prst="line">
            <a:avLst/>
          </a:prstGeom>
          <a:noFill/>
          <a:ln w="76200">
            <a:solidFill>
              <a:srgbClr val="000000"/>
            </a:solidFill>
            <a:prstDash val="solid"/>
          </a:ln>
        </p:spPr>
      </p:sp>
      <p:sp>
        <p:nvSpPr>
          <p:cNvPr id="3" name="Shape 1"/>
          <p:cNvSpPr/>
          <p:nvPr/>
        </p:nvSpPr>
        <p:spPr>
          <a:xfrm rot="5400000">
            <a:off x="-578644" y="3488531"/>
            <a:ext cx="2662238" cy="0"/>
          </a:xfrm>
          <a:prstGeom prst="line">
            <a:avLst/>
          </a:prstGeom>
          <a:noFill/>
          <a:ln w="12700">
            <a:solidFill>
              <a:srgbClr val="000000"/>
            </a:solidFill>
            <a:prstDash val="solid"/>
          </a:ln>
        </p:spPr>
      </p:sp>
      <p:sp>
        <p:nvSpPr>
          <p:cNvPr id="4" name="Shape 2"/>
          <p:cNvSpPr/>
          <p:nvPr/>
        </p:nvSpPr>
        <p:spPr>
          <a:xfrm>
            <a:off x="0" y="3490913"/>
            <a:ext cx="9144000" cy="0"/>
          </a:xfrm>
          <a:prstGeom prst="line">
            <a:avLst/>
          </a:prstGeom>
          <a:noFill/>
          <a:ln w="12700">
            <a:solidFill>
              <a:srgbClr val="000000"/>
            </a:solidFill>
            <a:prstDash val="solid"/>
          </a:ln>
        </p:spPr>
      </p:sp>
      <p:sp>
        <p:nvSpPr>
          <p:cNvPr id="5" name="Shape 3"/>
          <p:cNvSpPr/>
          <p:nvPr/>
        </p:nvSpPr>
        <p:spPr>
          <a:xfrm>
            <a:off x="0" y="2157413"/>
            <a:ext cx="9144000" cy="0"/>
          </a:xfrm>
          <a:prstGeom prst="line">
            <a:avLst/>
          </a:prstGeom>
          <a:noFill/>
          <a:ln w="12700">
            <a:solidFill>
              <a:srgbClr val="000000"/>
            </a:solidFill>
            <a:prstDash val="solid"/>
          </a:ln>
        </p:spPr>
      </p:sp>
      <p:sp>
        <p:nvSpPr>
          <p:cNvPr id="6" name="Shape 4"/>
          <p:cNvSpPr/>
          <p:nvPr/>
        </p:nvSpPr>
        <p:spPr>
          <a:xfrm>
            <a:off x="4763" y="4819650"/>
            <a:ext cx="9144000" cy="0"/>
          </a:xfrm>
          <a:prstGeom prst="line">
            <a:avLst/>
          </a:prstGeom>
          <a:noFill/>
          <a:ln w="12700">
            <a:solidFill>
              <a:srgbClr val="000000"/>
            </a:solidFill>
            <a:prstDash val="solid"/>
          </a:ln>
        </p:spPr>
      </p:sp>
      <p:sp>
        <p:nvSpPr>
          <p:cNvPr id="7" name="Text 5"/>
          <p:cNvSpPr/>
          <p:nvPr/>
        </p:nvSpPr>
        <p:spPr>
          <a:xfrm>
            <a:off x="2314575" y="447675"/>
            <a:ext cx="4972050" cy="285750"/>
          </a:xfrm>
          <a:prstGeom prst="rect">
            <a:avLst/>
          </a:prstGeom>
          <a:noFill/>
          <a:ln/>
        </p:spPr>
        <p:txBody>
          <a:bodyPr wrap="square" rtlCol="0" anchor="ctr"/>
          <a:lstStyle/>
          <a:p>
            <a:pPr algn="ctr" indent="0" marL="0">
              <a:lnSpc>
                <a:spcPts val="2250"/>
              </a:lnSpc>
              <a:buNone/>
            </a:pPr>
            <a:r>
              <a:rPr lang="en-US" sz="2100" spc="210" kern="0" dirty="0">
                <a:solidFill>
                  <a:srgbClr val="000000">
                    <a:alpha val="99000"/>
                  </a:srgbClr>
                </a:solidFill>
                <a:latin typeface="Space Grotesk" pitchFamily="34" charset="0"/>
                <a:ea typeface="Space Grotesk" pitchFamily="34" charset="-122"/>
                <a:cs typeface="Space Grotesk" pitchFamily="34" charset="-120"/>
              </a:rPr>
              <a:t>Sprint Ceremonies &amp; Insights</a:t>
            </a:r>
            <a:endParaRPr lang="en-US" sz="2100" dirty="0"/>
          </a:p>
        </p:txBody>
      </p:sp>
      <p:sp>
        <p:nvSpPr>
          <p:cNvPr id="8" name="Text 6"/>
          <p:cNvSpPr/>
          <p:nvPr/>
        </p:nvSpPr>
        <p:spPr>
          <a:xfrm>
            <a:off x="942975" y="2814638"/>
            <a:ext cx="8467725" cy="228600"/>
          </a:xfrm>
          <a:prstGeom prst="rect">
            <a:avLst/>
          </a:prstGeom>
          <a:noFill/>
          <a:ln/>
        </p:spPr>
        <p:txBody>
          <a:bodyPr wrap="square" rtlCol="0" anchor="ctr"/>
          <a:lstStyle/>
          <a:p>
            <a:pPr algn="l" indent="0" marL="0">
              <a:lnSpc>
                <a:spcPts val="1800"/>
              </a:lnSpc>
              <a:buNone/>
            </a:pPr>
            <a:r>
              <a:rPr lang="en-US" sz="1350" b="1" dirty="0">
                <a:solidFill>
                  <a:srgbClr val="000000">
                    <a:alpha val="99000"/>
                  </a:srgbClr>
                </a:solidFill>
                <a:latin typeface="Almarai" pitchFamily="34" charset="0"/>
                <a:ea typeface="Almarai" pitchFamily="34" charset="-122"/>
                <a:cs typeface="Almarai" pitchFamily="34" charset="-120"/>
              </a:rPr>
              <a:t>Daily Scrum</a:t>
            </a:r>
            <a:pPr algn="l" indent="0" marL="0">
              <a:lnSpc>
                <a:spcPts val="1800"/>
              </a:lnSpc>
              <a:buNone/>
            </a:pPr>
            <a:r>
              <a:rPr lang="en-US" sz="1350" dirty="0">
                <a:solidFill>
                  <a:srgbClr val="000000">
                    <a:alpha val="99000"/>
                  </a:srgbClr>
                </a:solidFill>
                <a:latin typeface="Almarai" pitchFamily="34" charset="0"/>
                <a:ea typeface="Almarai" pitchFamily="34" charset="-122"/>
                <a:cs typeface="Almarai" pitchFamily="34" charset="-120"/>
              </a:rPr>
              <a:t>:  Daily online meeting to discuss everyday process or difficulties if any for at least 15 minutes.</a:t>
            </a:r>
            <a:endParaRPr lang="en-US" sz="1350" dirty="0"/>
          </a:p>
        </p:txBody>
      </p:sp>
      <p:sp>
        <p:nvSpPr>
          <p:cNvPr id="9" name="Text 7"/>
          <p:cNvSpPr/>
          <p:nvPr/>
        </p:nvSpPr>
        <p:spPr>
          <a:xfrm>
            <a:off x="942975" y="3590925"/>
            <a:ext cx="8467725" cy="1371600"/>
          </a:xfrm>
          <a:prstGeom prst="rect">
            <a:avLst/>
          </a:prstGeom>
          <a:noFill/>
          <a:ln/>
        </p:spPr>
        <p:txBody>
          <a:bodyPr wrap="square" rtlCol="0" anchor="ctr"/>
          <a:lstStyle/>
          <a:p>
            <a:pPr algn="l" indent="0" marL="0">
              <a:lnSpc>
                <a:spcPts val="1800"/>
              </a:lnSpc>
              <a:buNone/>
            </a:pPr>
            <a:r>
              <a:rPr lang="en-US" sz="1350" b="1" dirty="0">
                <a:solidFill>
                  <a:srgbClr val="000000">
                    <a:alpha val="99000"/>
                  </a:srgbClr>
                </a:solidFill>
                <a:latin typeface="Almarai" pitchFamily="34" charset="0"/>
                <a:ea typeface="Almarai" pitchFamily="34" charset="-122"/>
                <a:cs typeface="Almarai" pitchFamily="34" charset="-120"/>
              </a:rPr>
              <a:t>Sprint Review</a:t>
            </a:r>
            <a:pPr algn="l" indent="0" marL="0">
              <a:lnSpc>
                <a:spcPts val="1800"/>
              </a:lnSpc>
              <a:buNone/>
            </a:pPr>
            <a:r>
              <a:rPr lang="en-US" sz="1350" dirty="0">
                <a:solidFill>
                  <a:srgbClr val="000000">
                    <a:alpha val="99000"/>
                  </a:srgbClr>
                </a:solidFill>
                <a:latin typeface="Almarai" pitchFamily="34" charset="0"/>
                <a:ea typeface="Almarai" pitchFamily="34" charset="-122"/>
                <a:cs typeface="Almarai" pitchFamily="34" charset="-120"/>
              </a:rPr>
              <a:t>: </a:t>
            </a:r>
            <a:endParaRPr lang="en-US" sz="1350" dirty="0"/>
          </a:p>
          <a:p>
            <a:pPr algn="l" marL="342900" indent="-342900">
              <a:lnSpc>
                <a:spcPts val="1800"/>
              </a:lnSpc>
              <a:buSzPct val="100000"/>
              <a:buChar char="•"/>
            </a:pPr>
            <a:r>
              <a:rPr lang="en-US" sz="1350" dirty="0">
                <a:solidFill>
                  <a:srgbClr val="000000">
                    <a:alpha val="99000"/>
                  </a:srgbClr>
                </a:solidFill>
                <a:latin typeface="Almarai" pitchFamily="34" charset="0"/>
                <a:ea typeface="Almarai" pitchFamily="34" charset="-122"/>
                <a:cs typeface="Almarai" pitchFamily="34" charset="-120"/>
              </a:rPr>
              <a:t>During the review of the UI, we realized our initial design was too complicated to complete on time, leading to a simplified UI prototype.</a:t>
            </a:r>
            <a:endParaRPr lang="en-US" sz="1350" dirty="0"/>
          </a:p>
          <a:p>
            <a:pPr algn="l" marL="342900" indent="-342900">
              <a:lnSpc>
                <a:spcPts val="1800"/>
              </a:lnSpc>
              <a:buSzPct val="100000"/>
              <a:buChar char="•"/>
            </a:pPr>
            <a:r>
              <a:rPr lang="en-US" sz="1350" dirty="0">
                <a:solidFill>
                  <a:srgbClr val="000000">
                    <a:alpha val="99000"/>
                  </a:srgbClr>
                </a:solidFill>
                <a:latin typeface="Almarai" pitchFamily="34" charset="0"/>
                <a:ea typeface="Almarai" pitchFamily="34" charset="-122"/>
                <a:cs typeface="Almarai" pitchFamily="34" charset="-120"/>
              </a:rPr>
              <a:t>While reviewing the backlog, we found some of them may be too complicated to achieve, so we decided to break them down further to make the backlog more manageable. e.g. Account system.</a:t>
            </a:r>
            <a:endParaRPr lang="en-US" sz="1350" dirty="0"/>
          </a:p>
        </p:txBody>
      </p:sp>
      <p:sp>
        <p:nvSpPr>
          <p:cNvPr id="10" name="Text 8"/>
          <p:cNvSpPr/>
          <p:nvPr/>
        </p:nvSpPr>
        <p:spPr>
          <a:xfrm>
            <a:off x="295275" y="2709863"/>
            <a:ext cx="619125" cy="333375"/>
          </a:xfrm>
          <a:prstGeom prst="rect">
            <a:avLst/>
          </a:prstGeom>
          <a:noFill/>
          <a:ln/>
        </p:spPr>
        <p:txBody>
          <a:bodyPr wrap="square" rtlCol="0" anchor="ctr"/>
          <a:lstStyle/>
          <a:p>
            <a:pPr algn="ctr" indent="0" marL="0">
              <a:lnSpc>
                <a:spcPts val="2625"/>
              </a:lnSpc>
              <a:buNone/>
            </a:pPr>
            <a:r>
              <a:rPr lang="en-US" sz="2400" spc="48" kern="0" dirty="0">
                <a:solidFill>
                  <a:srgbClr val="000000">
                    <a:alpha val="99000"/>
                  </a:srgbClr>
                </a:solidFill>
                <a:latin typeface="Besley" pitchFamily="34" charset="0"/>
                <a:ea typeface="Besley" pitchFamily="34" charset="-122"/>
                <a:cs typeface="Besley" pitchFamily="34" charset="-120"/>
              </a:rPr>
              <a:t>1</a:t>
            </a:r>
            <a:endParaRPr lang="en-US" sz="2400" dirty="0"/>
          </a:p>
        </p:txBody>
      </p:sp>
      <p:sp>
        <p:nvSpPr>
          <p:cNvPr id="11" name="Text 9"/>
          <p:cNvSpPr/>
          <p:nvPr/>
        </p:nvSpPr>
        <p:spPr>
          <a:xfrm>
            <a:off x="295275" y="3990975"/>
            <a:ext cx="633413" cy="333375"/>
          </a:xfrm>
          <a:prstGeom prst="rect">
            <a:avLst/>
          </a:prstGeom>
          <a:noFill/>
          <a:ln/>
        </p:spPr>
        <p:txBody>
          <a:bodyPr wrap="square" rtlCol="0" anchor="ctr"/>
          <a:lstStyle/>
          <a:p>
            <a:pPr algn="ctr" indent="0" marL="0">
              <a:lnSpc>
                <a:spcPts val="2625"/>
              </a:lnSpc>
              <a:buNone/>
            </a:pPr>
            <a:r>
              <a:rPr lang="en-US" sz="2400" spc="48" kern="0" dirty="0">
                <a:solidFill>
                  <a:srgbClr val="000000">
                    <a:alpha val="99000"/>
                  </a:srgbClr>
                </a:solidFill>
                <a:latin typeface="Besley" pitchFamily="34" charset="0"/>
                <a:ea typeface="Besley" pitchFamily="34" charset="-122"/>
                <a:cs typeface="Besley" pitchFamily="34" charset="-120"/>
              </a:rPr>
              <a:t>2</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0F0"/>
        </a:solidFill>
      </p:bgPr>
    </p:bg>
    <p:spTree>
      <p:nvGrpSpPr>
        <p:cNvPr id="1" name=""/>
        <p:cNvGrpSpPr/>
        <p:nvPr/>
      </p:nvGrpSpPr>
      <p:grpSpPr>
        <a:xfrm>
          <a:off x="0" y="0"/>
          <a:ext cx="0" cy="0"/>
          <a:chOff x="0" y="0"/>
          <a:chExt cx="0" cy="0"/>
        </a:xfrm>
      </p:grpSpPr>
      <p:sp>
        <p:nvSpPr>
          <p:cNvPr id="2" name="Shape 0"/>
          <p:cNvSpPr/>
          <p:nvPr/>
        </p:nvSpPr>
        <p:spPr>
          <a:xfrm>
            <a:off x="4763" y="938213"/>
            <a:ext cx="9144000" cy="0"/>
          </a:xfrm>
          <a:prstGeom prst="line">
            <a:avLst/>
          </a:prstGeom>
          <a:noFill/>
          <a:ln w="76200">
            <a:solidFill>
              <a:srgbClr val="000000"/>
            </a:solidFill>
            <a:prstDash val="solid"/>
          </a:ln>
        </p:spPr>
      </p:sp>
      <p:sp>
        <p:nvSpPr>
          <p:cNvPr id="3" name="Shape 1"/>
          <p:cNvSpPr/>
          <p:nvPr/>
        </p:nvSpPr>
        <p:spPr>
          <a:xfrm>
            <a:off x="4763" y="2157413"/>
            <a:ext cx="9144000" cy="0"/>
          </a:xfrm>
          <a:prstGeom prst="line">
            <a:avLst/>
          </a:prstGeom>
          <a:noFill/>
          <a:ln w="12700">
            <a:solidFill>
              <a:srgbClr val="000000"/>
            </a:solidFill>
            <a:prstDash val="solid"/>
          </a:ln>
        </p:spPr>
      </p:sp>
      <p:sp>
        <p:nvSpPr>
          <p:cNvPr id="4" name="Shape 2"/>
          <p:cNvSpPr/>
          <p:nvPr/>
        </p:nvSpPr>
        <p:spPr>
          <a:xfrm rot="5400000">
            <a:off x="-578644" y="3488531"/>
            <a:ext cx="2662238" cy="0"/>
          </a:xfrm>
          <a:prstGeom prst="line">
            <a:avLst/>
          </a:prstGeom>
          <a:noFill/>
          <a:ln w="12700">
            <a:solidFill>
              <a:srgbClr val="000000"/>
            </a:solidFill>
            <a:prstDash val="solid"/>
          </a:ln>
        </p:spPr>
      </p:sp>
      <p:sp>
        <p:nvSpPr>
          <p:cNvPr id="5" name="Shape 3"/>
          <p:cNvSpPr/>
          <p:nvPr/>
        </p:nvSpPr>
        <p:spPr>
          <a:xfrm>
            <a:off x="0" y="3490913"/>
            <a:ext cx="9144000" cy="0"/>
          </a:xfrm>
          <a:prstGeom prst="line">
            <a:avLst/>
          </a:prstGeom>
          <a:noFill/>
          <a:ln w="12700">
            <a:solidFill>
              <a:srgbClr val="000000"/>
            </a:solidFill>
            <a:prstDash val="solid"/>
          </a:ln>
        </p:spPr>
      </p:sp>
      <p:sp>
        <p:nvSpPr>
          <p:cNvPr id="6" name="Text 4"/>
          <p:cNvSpPr/>
          <p:nvPr/>
        </p:nvSpPr>
        <p:spPr>
          <a:xfrm>
            <a:off x="2314575" y="447675"/>
            <a:ext cx="4972050" cy="285750"/>
          </a:xfrm>
          <a:prstGeom prst="rect">
            <a:avLst/>
          </a:prstGeom>
          <a:noFill/>
          <a:ln/>
        </p:spPr>
        <p:txBody>
          <a:bodyPr wrap="square" rtlCol="0" anchor="ctr"/>
          <a:lstStyle/>
          <a:p>
            <a:pPr algn="ctr" indent="0" marL="0">
              <a:lnSpc>
                <a:spcPts val="2250"/>
              </a:lnSpc>
              <a:buNone/>
            </a:pPr>
            <a:r>
              <a:rPr lang="en-US" sz="2100" spc="210" kern="0" dirty="0">
                <a:solidFill>
                  <a:srgbClr val="000000">
                    <a:alpha val="99000"/>
                  </a:srgbClr>
                </a:solidFill>
                <a:latin typeface="Space Grotesk" pitchFamily="34" charset="0"/>
                <a:ea typeface="Space Grotesk" pitchFamily="34" charset="-122"/>
                <a:cs typeface="Space Grotesk" pitchFamily="34" charset="-120"/>
              </a:rPr>
              <a:t>Sprint Retrospective</a:t>
            </a:r>
            <a:endParaRPr lang="en-US" sz="2100" dirty="0"/>
          </a:p>
        </p:txBody>
      </p:sp>
      <p:sp>
        <p:nvSpPr>
          <p:cNvPr id="7" name="Text 5"/>
          <p:cNvSpPr/>
          <p:nvPr/>
        </p:nvSpPr>
        <p:spPr>
          <a:xfrm>
            <a:off x="295275" y="2709863"/>
            <a:ext cx="619125" cy="333375"/>
          </a:xfrm>
          <a:prstGeom prst="rect">
            <a:avLst/>
          </a:prstGeom>
          <a:noFill/>
          <a:ln/>
        </p:spPr>
        <p:txBody>
          <a:bodyPr wrap="square" rtlCol="0" anchor="ctr"/>
          <a:lstStyle/>
          <a:p>
            <a:pPr algn="ctr" indent="0" marL="0">
              <a:lnSpc>
                <a:spcPts val="2625"/>
              </a:lnSpc>
              <a:buNone/>
            </a:pPr>
            <a:r>
              <a:rPr lang="en-US" sz="2400" spc="48" kern="0" dirty="0">
                <a:solidFill>
                  <a:srgbClr val="000000">
                    <a:alpha val="99000"/>
                  </a:srgbClr>
                </a:solidFill>
                <a:latin typeface="Besley" pitchFamily="34" charset="0"/>
                <a:ea typeface="Besley" pitchFamily="34" charset="-122"/>
                <a:cs typeface="Besley" pitchFamily="34" charset="-120"/>
              </a:rPr>
              <a:t>1</a:t>
            </a:r>
            <a:endParaRPr lang="en-US" sz="2400" dirty="0"/>
          </a:p>
        </p:txBody>
      </p:sp>
      <p:sp>
        <p:nvSpPr>
          <p:cNvPr id="8" name="Text 6"/>
          <p:cNvSpPr/>
          <p:nvPr/>
        </p:nvSpPr>
        <p:spPr>
          <a:xfrm>
            <a:off x="295275" y="3990975"/>
            <a:ext cx="633413" cy="333375"/>
          </a:xfrm>
          <a:prstGeom prst="rect">
            <a:avLst/>
          </a:prstGeom>
          <a:noFill/>
          <a:ln/>
        </p:spPr>
        <p:txBody>
          <a:bodyPr wrap="square" rtlCol="0" anchor="ctr"/>
          <a:lstStyle/>
          <a:p>
            <a:pPr algn="ctr" indent="0" marL="0">
              <a:lnSpc>
                <a:spcPts val="2625"/>
              </a:lnSpc>
              <a:buNone/>
            </a:pPr>
            <a:r>
              <a:rPr lang="en-US" sz="2400" spc="48" kern="0" dirty="0">
                <a:solidFill>
                  <a:srgbClr val="000000">
                    <a:alpha val="99000"/>
                  </a:srgbClr>
                </a:solidFill>
                <a:latin typeface="Besley" pitchFamily="34" charset="0"/>
                <a:ea typeface="Besley" pitchFamily="34" charset="-122"/>
                <a:cs typeface="Besley" pitchFamily="34" charset="-120"/>
              </a:rPr>
              <a:t>2</a:t>
            </a:r>
            <a:endParaRPr lang="en-US" sz="2400" dirty="0"/>
          </a:p>
        </p:txBody>
      </p:sp>
      <p:sp>
        <p:nvSpPr>
          <p:cNvPr id="9" name="Text 7"/>
          <p:cNvSpPr/>
          <p:nvPr/>
        </p:nvSpPr>
        <p:spPr>
          <a:xfrm>
            <a:off x="900113" y="2252663"/>
            <a:ext cx="8467725" cy="1033462"/>
          </a:xfrm>
          <a:prstGeom prst="rect">
            <a:avLst/>
          </a:prstGeom>
          <a:noFill/>
          <a:ln/>
        </p:spPr>
        <p:txBody>
          <a:bodyPr wrap="square" rtlCol="0" anchor="ctr"/>
          <a:lstStyle/>
          <a:p>
            <a:pPr algn="l" indent="0" marL="0">
              <a:lnSpc>
                <a:spcPts val="2250"/>
              </a:lnSpc>
              <a:buNone/>
            </a:pPr>
            <a:r>
              <a:rPr lang="en-US" sz="2100" b="1" spc="210" kern="0" dirty="0">
                <a:solidFill>
                  <a:srgbClr val="000000">
                    <a:alpha val="99000"/>
                  </a:srgbClr>
                </a:solidFill>
                <a:latin typeface="Space Grotesk" pitchFamily="34" charset="0"/>
                <a:ea typeface="Space Grotesk" pitchFamily="34" charset="-122"/>
                <a:cs typeface="Space Grotesk" pitchFamily="34" charset="-120"/>
              </a:rPr>
              <a:t>Liked</a:t>
            </a:r>
            <a:endParaRPr lang="en-US" sz="2100" dirty="0"/>
          </a:p>
          <a:p>
            <a:pPr algn="l" indent="0" marL="0">
              <a:lnSpc>
                <a:spcPts val="1800"/>
              </a:lnSpc>
              <a:buNone/>
            </a:pPr>
            <a:r>
              <a:rPr lang="en-US" sz="1350" spc="210" kern="0" dirty="0">
                <a:solidFill>
                  <a:srgbClr val="000000">
                    <a:alpha val="99000"/>
                  </a:srgbClr>
                </a:solidFill>
                <a:latin typeface="Almarai" pitchFamily="34" charset="0"/>
                <a:ea typeface="Almarai" pitchFamily="34" charset="-122"/>
                <a:cs typeface="Almarai" pitchFamily="34" charset="-120"/>
              </a:rPr>
              <a:t>Our collaboration was a big success. Everyone contributed equally, and brainstorming sessions were creative and open.</a:t>
            </a:r>
            <a:endParaRPr lang="en-US" sz="2100" dirty="0"/>
          </a:p>
        </p:txBody>
      </p:sp>
      <p:sp>
        <p:nvSpPr>
          <p:cNvPr id="10" name="Text 8"/>
          <p:cNvSpPr/>
          <p:nvPr/>
        </p:nvSpPr>
        <p:spPr>
          <a:xfrm>
            <a:off x="900113" y="3719512"/>
            <a:ext cx="8467725" cy="1033462"/>
          </a:xfrm>
          <a:prstGeom prst="rect">
            <a:avLst/>
          </a:prstGeom>
          <a:noFill/>
          <a:ln/>
        </p:spPr>
        <p:txBody>
          <a:bodyPr wrap="square" rtlCol="0" anchor="ctr"/>
          <a:lstStyle/>
          <a:p>
            <a:pPr algn="l" indent="0" marL="0">
              <a:lnSpc>
                <a:spcPts val="2250"/>
              </a:lnSpc>
              <a:buNone/>
            </a:pPr>
            <a:r>
              <a:rPr lang="en-US" sz="2100" b="1" spc="210" kern="0" dirty="0">
                <a:solidFill>
                  <a:srgbClr val="000000">
                    <a:alpha val="99000"/>
                  </a:srgbClr>
                </a:solidFill>
                <a:latin typeface="Space Grotesk" pitchFamily="34" charset="0"/>
                <a:ea typeface="Space Grotesk" pitchFamily="34" charset="-122"/>
                <a:cs typeface="Space Grotesk" pitchFamily="34" charset="-120"/>
              </a:rPr>
              <a:t>Lacked</a:t>
            </a:r>
            <a:endParaRPr lang="en-US" sz="2100" dirty="0"/>
          </a:p>
          <a:p>
            <a:pPr algn="l" indent="0" marL="0">
              <a:lnSpc>
                <a:spcPts val="1800"/>
              </a:lnSpc>
              <a:buNone/>
            </a:pPr>
            <a:r>
              <a:rPr lang="en-US" sz="1350" spc="210" kern="0" dirty="0">
                <a:solidFill>
                  <a:srgbClr val="000000">
                    <a:alpha val="99000"/>
                  </a:srgbClr>
                </a:solidFill>
                <a:latin typeface="Almarai" pitchFamily="34" charset="0"/>
                <a:ea typeface="Almarai" pitchFamily="34" charset="-122"/>
                <a:cs typeface="Almarai" pitchFamily="34" charset="-120"/>
              </a:rPr>
              <a:t>Our initial brainstorming sessions could have been more structured with the help of some useful tools such as Miro.</a:t>
            </a:r>
            <a:endParaRPr lang="en-US" sz="2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0F0"/>
        </a:solidFill>
      </p:bgPr>
    </p:bg>
    <p:spTree>
      <p:nvGrpSpPr>
        <p:cNvPr id="1" name=""/>
        <p:cNvGrpSpPr/>
        <p:nvPr/>
      </p:nvGrpSpPr>
      <p:grpSpPr>
        <a:xfrm>
          <a:off x="0" y="0"/>
          <a:ext cx="0" cy="0"/>
          <a:chOff x="0" y="0"/>
          <a:chExt cx="0" cy="0"/>
        </a:xfrm>
      </p:grpSpPr>
      <p:sp>
        <p:nvSpPr>
          <p:cNvPr id="2" name="Shape 0"/>
          <p:cNvSpPr/>
          <p:nvPr/>
        </p:nvSpPr>
        <p:spPr>
          <a:xfrm>
            <a:off x="4763" y="938213"/>
            <a:ext cx="9144000" cy="0"/>
          </a:xfrm>
          <a:prstGeom prst="line">
            <a:avLst/>
          </a:prstGeom>
          <a:noFill/>
          <a:ln w="76200">
            <a:solidFill>
              <a:srgbClr val="000000"/>
            </a:solidFill>
            <a:prstDash val="solid"/>
          </a:ln>
        </p:spPr>
      </p:sp>
      <p:sp>
        <p:nvSpPr>
          <p:cNvPr id="3" name="Shape 1"/>
          <p:cNvSpPr/>
          <p:nvPr/>
        </p:nvSpPr>
        <p:spPr>
          <a:xfrm>
            <a:off x="4763" y="2157413"/>
            <a:ext cx="9144000" cy="0"/>
          </a:xfrm>
          <a:prstGeom prst="line">
            <a:avLst/>
          </a:prstGeom>
          <a:noFill/>
          <a:ln w="12700">
            <a:solidFill>
              <a:srgbClr val="000000"/>
            </a:solidFill>
            <a:prstDash val="solid"/>
          </a:ln>
        </p:spPr>
      </p:sp>
      <p:sp>
        <p:nvSpPr>
          <p:cNvPr id="4" name="Shape 2"/>
          <p:cNvSpPr/>
          <p:nvPr/>
        </p:nvSpPr>
        <p:spPr>
          <a:xfrm>
            <a:off x="4763" y="2157413"/>
            <a:ext cx="9144000" cy="0"/>
          </a:xfrm>
          <a:prstGeom prst="line">
            <a:avLst/>
          </a:prstGeom>
          <a:noFill/>
          <a:ln w="12700">
            <a:solidFill>
              <a:srgbClr val="000000"/>
            </a:solidFill>
            <a:prstDash val="solid"/>
          </a:ln>
        </p:spPr>
      </p:sp>
      <p:sp>
        <p:nvSpPr>
          <p:cNvPr id="5" name="Shape 3"/>
          <p:cNvSpPr/>
          <p:nvPr/>
        </p:nvSpPr>
        <p:spPr>
          <a:xfrm rot="5400000">
            <a:off x="-578644" y="3488531"/>
            <a:ext cx="2662238" cy="0"/>
          </a:xfrm>
          <a:prstGeom prst="line">
            <a:avLst/>
          </a:prstGeom>
          <a:noFill/>
          <a:ln w="12700">
            <a:solidFill>
              <a:srgbClr val="000000"/>
            </a:solidFill>
            <a:prstDash val="solid"/>
          </a:ln>
        </p:spPr>
      </p:sp>
      <p:sp>
        <p:nvSpPr>
          <p:cNvPr id="6" name="Shape 4"/>
          <p:cNvSpPr/>
          <p:nvPr/>
        </p:nvSpPr>
        <p:spPr>
          <a:xfrm>
            <a:off x="0" y="3490913"/>
            <a:ext cx="9144000" cy="0"/>
          </a:xfrm>
          <a:prstGeom prst="line">
            <a:avLst/>
          </a:prstGeom>
          <a:noFill/>
          <a:ln w="12700">
            <a:solidFill>
              <a:srgbClr val="000000"/>
            </a:solidFill>
            <a:prstDash val="solid"/>
          </a:ln>
        </p:spPr>
      </p:sp>
      <p:sp>
        <p:nvSpPr>
          <p:cNvPr id="7" name="Text 5"/>
          <p:cNvSpPr/>
          <p:nvPr/>
        </p:nvSpPr>
        <p:spPr>
          <a:xfrm>
            <a:off x="2314575" y="447675"/>
            <a:ext cx="4972050" cy="285750"/>
          </a:xfrm>
          <a:prstGeom prst="rect">
            <a:avLst/>
          </a:prstGeom>
          <a:noFill/>
          <a:ln/>
        </p:spPr>
        <p:txBody>
          <a:bodyPr wrap="square" rtlCol="0" anchor="ctr"/>
          <a:lstStyle/>
          <a:p>
            <a:pPr algn="ctr" indent="0" marL="0">
              <a:lnSpc>
                <a:spcPts val="2250"/>
              </a:lnSpc>
              <a:buNone/>
            </a:pPr>
            <a:r>
              <a:rPr lang="en-US" sz="2100" spc="210" kern="0" dirty="0">
                <a:solidFill>
                  <a:srgbClr val="000000">
                    <a:alpha val="99000"/>
                  </a:srgbClr>
                </a:solidFill>
                <a:latin typeface="Space Grotesk" pitchFamily="34" charset="0"/>
                <a:ea typeface="Space Grotesk" pitchFamily="34" charset="-122"/>
                <a:cs typeface="Space Grotesk" pitchFamily="34" charset="-120"/>
              </a:rPr>
              <a:t>Sprint Retrospective</a:t>
            </a:r>
            <a:endParaRPr lang="en-US" sz="2100" dirty="0"/>
          </a:p>
        </p:txBody>
      </p:sp>
      <p:sp>
        <p:nvSpPr>
          <p:cNvPr id="8" name="Text 6"/>
          <p:cNvSpPr/>
          <p:nvPr/>
        </p:nvSpPr>
        <p:spPr>
          <a:xfrm>
            <a:off x="295275" y="2709863"/>
            <a:ext cx="619125" cy="333375"/>
          </a:xfrm>
          <a:prstGeom prst="rect">
            <a:avLst/>
          </a:prstGeom>
          <a:noFill/>
          <a:ln/>
        </p:spPr>
        <p:txBody>
          <a:bodyPr wrap="square" rtlCol="0" anchor="ctr"/>
          <a:lstStyle/>
          <a:p>
            <a:pPr algn="ctr" indent="0" marL="0">
              <a:lnSpc>
                <a:spcPts val="2625"/>
              </a:lnSpc>
              <a:buNone/>
            </a:pPr>
            <a:r>
              <a:rPr lang="en-US" sz="2400" spc="48" kern="0" dirty="0">
                <a:solidFill>
                  <a:srgbClr val="000000">
                    <a:alpha val="99000"/>
                  </a:srgbClr>
                </a:solidFill>
                <a:latin typeface="Besley" pitchFamily="34" charset="0"/>
                <a:ea typeface="Besley" pitchFamily="34" charset="-122"/>
                <a:cs typeface="Besley" pitchFamily="34" charset="-120"/>
              </a:rPr>
              <a:t>3</a:t>
            </a:r>
            <a:endParaRPr lang="en-US" sz="2400" dirty="0"/>
          </a:p>
        </p:txBody>
      </p:sp>
      <p:sp>
        <p:nvSpPr>
          <p:cNvPr id="9" name="Text 7"/>
          <p:cNvSpPr/>
          <p:nvPr/>
        </p:nvSpPr>
        <p:spPr>
          <a:xfrm>
            <a:off x="900113" y="2252663"/>
            <a:ext cx="8467725" cy="1033462"/>
          </a:xfrm>
          <a:prstGeom prst="rect">
            <a:avLst/>
          </a:prstGeom>
          <a:noFill/>
          <a:ln/>
        </p:spPr>
        <p:txBody>
          <a:bodyPr wrap="square" rtlCol="0" anchor="ctr"/>
          <a:lstStyle/>
          <a:p>
            <a:pPr algn="l" indent="0" marL="0">
              <a:lnSpc>
                <a:spcPts val="2250"/>
              </a:lnSpc>
              <a:buNone/>
            </a:pPr>
            <a:r>
              <a:rPr lang="en-US" sz="2100" b="1" spc="210" kern="0" dirty="0">
                <a:solidFill>
                  <a:srgbClr val="000000">
                    <a:alpha val="99000"/>
                  </a:srgbClr>
                </a:solidFill>
                <a:latin typeface="Space Grotesk" pitchFamily="34" charset="0"/>
                <a:ea typeface="Space Grotesk" pitchFamily="34" charset="-122"/>
                <a:cs typeface="Space Grotesk" pitchFamily="34" charset="-120"/>
              </a:rPr>
              <a:t>Learned</a:t>
            </a:r>
            <a:endParaRPr lang="en-US" sz="2100" dirty="0"/>
          </a:p>
          <a:p>
            <a:pPr algn="l" indent="0" marL="0">
              <a:lnSpc>
                <a:spcPts val="1800"/>
              </a:lnSpc>
              <a:buNone/>
            </a:pPr>
            <a:r>
              <a:rPr lang="en-US" sz="1350" spc="210" kern="0" dirty="0">
                <a:solidFill>
                  <a:srgbClr val="000000">
                    <a:alpha val="99000"/>
                  </a:srgbClr>
                </a:solidFill>
                <a:latin typeface="Almarai" pitchFamily="34" charset="0"/>
                <a:ea typeface="Almarai" pitchFamily="34" charset="-122"/>
                <a:cs typeface="Almarai" pitchFamily="34" charset="-120"/>
              </a:rPr>
              <a:t>The Power of a Shared Vision: Before this sprint, "Squawk" was just an idea. Now, it's a concrete plan. We are no longer working on four different versions of the project in our heads; we are all working towards one. </a:t>
            </a:r>
            <a:endParaRPr lang="en-US" sz="2100" dirty="0"/>
          </a:p>
        </p:txBody>
      </p:sp>
      <p:sp>
        <p:nvSpPr>
          <p:cNvPr id="10" name="Text 8"/>
          <p:cNvSpPr/>
          <p:nvPr/>
        </p:nvSpPr>
        <p:spPr>
          <a:xfrm>
            <a:off x="900113" y="3576638"/>
            <a:ext cx="8467725" cy="1314450"/>
          </a:xfrm>
          <a:prstGeom prst="rect">
            <a:avLst/>
          </a:prstGeom>
          <a:noFill/>
          <a:ln/>
        </p:spPr>
        <p:txBody>
          <a:bodyPr wrap="square" rtlCol="0" anchor="ctr"/>
          <a:lstStyle/>
          <a:p>
            <a:pPr algn="l" indent="0" marL="0">
              <a:lnSpc>
                <a:spcPts val="2250"/>
              </a:lnSpc>
              <a:buNone/>
            </a:pPr>
            <a:r>
              <a:rPr lang="en-US" sz="2100" b="1" spc="210" kern="0" dirty="0">
                <a:solidFill>
                  <a:srgbClr val="000000">
                    <a:alpha val="99000"/>
                  </a:srgbClr>
                </a:solidFill>
                <a:latin typeface="Space Grotesk" pitchFamily="34" charset="0"/>
                <a:ea typeface="Space Grotesk" pitchFamily="34" charset="-122"/>
                <a:cs typeface="Space Grotesk" pitchFamily="34" charset="-120"/>
              </a:rPr>
              <a:t>Longed for</a:t>
            </a:r>
            <a:endParaRPr lang="en-US" sz="2100" dirty="0"/>
          </a:p>
          <a:p>
            <a:pPr algn="l" indent="0" marL="0">
              <a:lnSpc>
                <a:spcPts val="1800"/>
              </a:lnSpc>
              <a:buNone/>
            </a:pPr>
            <a:r>
              <a:rPr lang="en-US" sz="1350" spc="210" kern="0" dirty="0">
                <a:solidFill>
                  <a:srgbClr val="000000">
                    <a:alpha val="99000"/>
                  </a:srgbClr>
                </a:solidFill>
                <a:latin typeface="Almarai" pitchFamily="34" charset="0"/>
                <a:ea typeface="Almarai" pitchFamily="34" charset="-122"/>
                <a:cs typeface="Almarai" pitchFamily="34" charset="-120"/>
              </a:rPr>
              <a:t>We are looking forward to optimize the UI design by making it more easy to use and beautiful to watch. The elaboration on the more detailed and achievable functionalities design is another goal.</a:t>
            </a:r>
            <a:endParaRPr lang="en-US" sz="2100" dirty="0"/>
          </a:p>
        </p:txBody>
      </p:sp>
      <p:sp>
        <p:nvSpPr>
          <p:cNvPr id="11" name="Text 9"/>
          <p:cNvSpPr/>
          <p:nvPr/>
        </p:nvSpPr>
        <p:spPr>
          <a:xfrm>
            <a:off x="300038" y="3990975"/>
            <a:ext cx="623888" cy="333375"/>
          </a:xfrm>
          <a:prstGeom prst="rect">
            <a:avLst/>
          </a:prstGeom>
          <a:noFill/>
          <a:ln/>
        </p:spPr>
        <p:txBody>
          <a:bodyPr wrap="square" rtlCol="0" anchor="ctr"/>
          <a:lstStyle/>
          <a:p>
            <a:pPr algn="ctr" indent="0" marL="0">
              <a:lnSpc>
                <a:spcPts val="2625"/>
              </a:lnSpc>
              <a:buNone/>
            </a:pPr>
            <a:r>
              <a:rPr lang="en-US" sz="2400" spc="48" kern="0" dirty="0">
                <a:solidFill>
                  <a:srgbClr val="000000">
                    <a:alpha val="99000"/>
                  </a:srgbClr>
                </a:solidFill>
                <a:latin typeface="Besley" pitchFamily="34" charset="0"/>
                <a:ea typeface="Besley" pitchFamily="34" charset="-122"/>
                <a:cs typeface="Besley" pitchFamily="34" charset="-120"/>
              </a:rPr>
              <a:t>4</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5D1"/>
        </a:solidFill>
      </p:bgPr>
    </p:bg>
    <p:spTree>
      <p:nvGrpSpPr>
        <p:cNvPr id="1" name=""/>
        <p:cNvGrpSpPr/>
        <p:nvPr/>
      </p:nvGrpSpPr>
      <p:grpSpPr>
        <a:xfrm>
          <a:off x="0" y="0"/>
          <a:ext cx="0" cy="0"/>
          <a:chOff x="0" y="0"/>
          <a:chExt cx="0" cy="0"/>
        </a:xfrm>
      </p:grpSpPr>
      <p:sp>
        <p:nvSpPr>
          <p:cNvPr id="2" name="Shape 0"/>
          <p:cNvSpPr/>
          <p:nvPr/>
        </p:nvSpPr>
        <p:spPr>
          <a:xfrm>
            <a:off x="0" y="666750"/>
            <a:ext cx="9144000" cy="0"/>
          </a:xfrm>
          <a:prstGeom prst="line">
            <a:avLst/>
          </a:prstGeom>
          <a:noFill/>
          <a:ln w="76200">
            <a:solidFill>
              <a:srgbClr val="000000"/>
            </a:solidFill>
            <a:prstDash val="solid"/>
          </a:ln>
        </p:spPr>
      </p:sp>
      <p:sp>
        <p:nvSpPr>
          <p:cNvPr id="3" name="Shape 1"/>
          <p:cNvSpPr/>
          <p:nvPr/>
        </p:nvSpPr>
        <p:spPr>
          <a:xfrm>
            <a:off x="0" y="4819650"/>
            <a:ext cx="9144000" cy="0"/>
          </a:xfrm>
          <a:prstGeom prst="line">
            <a:avLst/>
          </a:prstGeom>
          <a:noFill/>
          <a:ln w="12700">
            <a:solidFill>
              <a:srgbClr val="000000"/>
            </a:solidFill>
            <a:prstDash val="solid"/>
          </a:ln>
        </p:spPr>
      </p:sp>
      <p:pic>
        <p:nvPicPr>
          <p:cNvPr id="4" name="Image 0" descr="preencoded.png">    </p:cNvPr>
          <p:cNvPicPr>
            <a:picLocks noChangeAspect="1"/>
          </p:cNvPicPr>
          <p:nvPr/>
        </p:nvPicPr>
        <p:blipFill>
          <a:blip r:embed="rId1"/>
          <a:stretch>
            <a:fillRect/>
          </a:stretch>
        </p:blipFill>
        <p:spPr>
          <a:xfrm>
            <a:off x="1271588" y="2205038"/>
            <a:ext cx="1076325" cy="1076325"/>
          </a:xfrm>
          <a:prstGeom prst="rect">
            <a:avLst/>
          </a:prstGeom>
        </p:spPr>
      </p:pic>
      <p:pic>
        <p:nvPicPr>
          <p:cNvPr id="5" name="Image 1" descr="preencoded.png">    </p:cNvPr>
          <p:cNvPicPr>
            <a:picLocks noChangeAspect="1"/>
          </p:cNvPicPr>
          <p:nvPr/>
        </p:nvPicPr>
        <p:blipFill>
          <a:blip r:embed="rId2"/>
          <a:stretch>
            <a:fillRect/>
          </a:stretch>
        </p:blipFill>
        <p:spPr>
          <a:xfrm>
            <a:off x="3114675" y="2185988"/>
            <a:ext cx="1071563" cy="1076325"/>
          </a:xfrm>
          <a:prstGeom prst="rect">
            <a:avLst/>
          </a:prstGeom>
        </p:spPr>
      </p:pic>
      <p:pic>
        <p:nvPicPr>
          <p:cNvPr id="6" name="Image 2" descr="preencoded.png">    </p:cNvPr>
          <p:cNvPicPr>
            <a:picLocks noChangeAspect="1"/>
          </p:cNvPicPr>
          <p:nvPr/>
        </p:nvPicPr>
        <p:blipFill>
          <a:blip r:embed="rId3"/>
          <a:stretch>
            <a:fillRect/>
          </a:stretch>
        </p:blipFill>
        <p:spPr>
          <a:xfrm>
            <a:off x="4957763" y="2185988"/>
            <a:ext cx="1071563" cy="1076325"/>
          </a:xfrm>
          <a:prstGeom prst="rect">
            <a:avLst/>
          </a:prstGeom>
        </p:spPr>
      </p:pic>
      <p:pic>
        <p:nvPicPr>
          <p:cNvPr id="7" name="Image 3" descr="preencoded.png">    </p:cNvPr>
          <p:cNvPicPr>
            <a:picLocks noChangeAspect="1"/>
          </p:cNvPicPr>
          <p:nvPr/>
        </p:nvPicPr>
        <p:blipFill>
          <a:blip r:embed="rId4"/>
          <a:stretch>
            <a:fillRect/>
          </a:stretch>
        </p:blipFill>
        <p:spPr>
          <a:xfrm>
            <a:off x="6796088" y="2185988"/>
            <a:ext cx="1076325" cy="1076325"/>
          </a:xfrm>
          <a:prstGeom prst="rect">
            <a:avLst/>
          </a:prstGeom>
        </p:spPr>
      </p:pic>
      <p:sp>
        <p:nvSpPr>
          <p:cNvPr id="8" name="Text 2"/>
          <p:cNvSpPr/>
          <p:nvPr/>
        </p:nvSpPr>
        <p:spPr>
          <a:xfrm>
            <a:off x="6734175" y="3343275"/>
            <a:ext cx="1928813" cy="457200"/>
          </a:xfrm>
          <a:prstGeom prst="rect">
            <a:avLst/>
          </a:prstGeom>
          <a:noFill/>
          <a:ln/>
        </p:spPr>
        <p:txBody>
          <a:bodyPr wrap="square" rtlCol="0" anchor="ctr"/>
          <a:lstStyle/>
          <a:p>
            <a:pPr algn="ctr" indent="0" marL="0">
              <a:lnSpc>
                <a:spcPts val="1800"/>
              </a:lnSpc>
              <a:buNone/>
            </a:pPr>
            <a:r>
              <a:rPr lang="en-US" sz="1350" dirty="0">
                <a:solidFill>
                  <a:srgbClr val="000000">
                    <a:alpha val="99000"/>
                  </a:srgbClr>
                </a:solidFill>
                <a:latin typeface="Almarai" pitchFamily="34" charset="0"/>
                <a:ea typeface="Almarai" pitchFamily="34" charset="-122"/>
                <a:cs typeface="Almarai" pitchFamily="34" charset="-120"/>
              </a:rPr>
              <a:t>Juyin Tang</a:t>
            </a:r>
            <a:endParaRPr lang="en-US" sz="1350" dirty="0"/>
          </a:p>
          <a:p>
            <a:pPr algn="ctr" indent="0" marL="0">
              <a:lnSpc>
                <a:spcPts val="1800"/>
              </a:lnSpc>
              <a:buNone/>
            </a:pPr>
            <a:r>
              <a:rPr lang="en-US" sz="1350" dirty="0">
                <a:solidFill>
                  <a:srgbClr val="000000">
                    <a:alpha val="99000"/>
                  </a:srgbClr>
                </a:solidFill>
                <a:latin typeface="Almarai" pitchFamily="34" charset="0"/>
                <a:ea typeface="Almarai" pitchFamily="34" charset="-122"/>
                <a:cs typeface="Almarai" pitchFamily="34" charset="-120"/>
              </a:rPr>
              <a:t>UX/UI Design Lead</a:t>
            </a:r>
            <a:endParaRPr lang="en-US" sz="1350" dirty="0"/>
          </a:p>
        </p:txBody>
      </p:sp>
      <p:sp>
        <p:nvSpPr>
          <p:cNvPr id="9" name="Text 3"/>
          <p:cNvSpPr/>
          <p:nvPr/>
        </p:nvSpPr>
        <p:spPr>
          <a:xfrm>
            <a:off x="4748213" y="3343275"/>
            <a:ext cx="1928813" cy="457200"/>
          </a:xfrm>
          <a:prstGeom prst="rect">
            <a:avLst/>
          </a:prstGeom>
          <a:noFill/>
          <a:ln/>
        </p:spPr>
        <p:txBody>
          <a:bodyPr wrap="square" rtlCol="0" anchor="ctr"/>
          <a:lstStyle/>
          <a:p>
            <a:pPr algn="ctr" indent="0" marL="0">
              <a:lnSpc>
                <a:spcPts val="1800"/>
              </a:lnSpc>
              <a:buNone/>
            </a:pPr>
            <a:r>
              <a:rPr lang="en-US" sz="1350" dirty="0">
                <a:solidFill>
                  <a:srgbClr val="000000">
                    <a:alpha val="99000"/>
                  </a:srgbClr>
                </a:solidFill>
                <a:latin typeface="Almarai" pitchFamily="34" charset="0"/>
                <a:ea typeface="Almarai" pitchFamily="34" charset="-122"/>
                <a:cs typeface="Almarai" pitchFamily="34" charset="-120"/>
              </a:rPr>
              <a:t>Zongru Li</a:t>
            </a:r>
            <a:endParaRPr lang="en-US" sz="1350" dirty="0"/>
          </a:p>
          <a:p>
            <a:pPr algn="ctr" indent="0" marL="0">
              <a:lnSpc>
                <a:spcPts val="1800"/>
              </a:lnSpc>
              <a:buNone/>
            </a:pPr>
            <a:r>
              <a:rPr lang="en-US" sz="1350" dirty="0">
                <a:solidFill>
                  <a:srgbClr val="000000">
                    <a:alpha val="99000"/>
                  </a:srgbClr>
                </a:solidFill>
                <a:latin typeface="Almarai" pitchFamily="34" charset="0"/>
                <a:ea typeface="Almarai" pitchFamily="34" charset="-122"/>
                <a:cs typeface="Almarai" pitchFamily="34" charset="-120"/>
              </a:rPr>
              <a:t>Product Owner</a:t>
            </a:r>
            <a:endParaRPr lang="en-US" sz="1350" dirty="0"/>
          </a:p>
        </p:txBody>
      </p:sp>
      <p:sp>
        <p:nvSpPr>
          <p:cNvPr id="10" name="Text 4"/>
          <p:cNvSpPr/>
          <p:nvPr/>
        </p:nvSpPr>
        <p:spPr>
          <a:xfrm>
            <a:off x="4562475" y="4862513"/>
            <a:ext cx="847725" cy="123825"/>
          </a:xfrm>
          <a:prstGeom prst="rect">
            <a:avLst/>
          </a:prstGeom>
          <a:noFill/>
          <a:ln/>
        </p:spPr>
        <p:txBody>
          <a:bodyPr wrap="square" rtlCol="0" anchor="ctr"/>
          <a:lstStyle/>
          <a:p>
            <a:pPr algn="l" indent="0" marL="0">
              <a:lnSpc>
                <a:spcPts val="975"/>
              </a:lnSpc>
              <a:buNone/>
            </a:pPr>
            <a:r>
              <a:rPr lang="en-US" sz="900" dirty="0">
                <a:solidFill>
                  <a:srgbClr val="000000">
                    <a:alpha val="99000"/>
                  </a:srgbClr>
                </a:solidFill>
                <a:latin typeface="Almarai" pitchFamily="34" charset="0"/>
                <a:ea typeface="Almarai" pitchFamily="34" charset="-122"/>
                <a:cs typeface="Almarai" pitchFamily="34" charset="-120"/>
              </a:rPr>
              <a:t>Group 5</a:t>
            </a:r>
            <a:endParaRPr lang="en-US" sz="900" dirty="0"/>
          </a:p>
        </p:txBody>
      </p:sp>
      <p:sp>
        <p:nvSpPr>
          <p:cNvPr id="11" name="Text 5"/>
          <p:cNvSpPr/>
          <p:nvPr/>
        </p:nvSpPr>
        <p:spPr>
          <a:xfrm>
            <a:off x="2681288" y="190500"/>
            <a:ext cx="4238625" cy="285750"/>
          </a:xfrm>
          <a:prstGeom prst="rect">
            <a:avLst/>
          </a:prstGeom>
          <a:noFill/>
          <a:ln/>
        </p:spPr>
        <p:txBody>
          <a:bodyPr wrap="square" rtlCol="0" anchor="ctr"/>
          <a:lstStyle/>
          <a:p>
            <a:pPr algn="ctr" indent="0" marL="0">
              <a:lnSpc>
                <a:spcPts val="2250"/>
              </a:lnSpc>
              <a:buNone/>
            </a:pPr>
            <a:r>
              <a:rPr lang="en-US" sz="2100" spc="210" kern="0" dirty="0">
                <a:solidFill>
                  <a:srgbClr val="000000">
                    <a:alpha val="99000"/>
                  </a:srgbClr>
                </a:solidFill>
                <a:latin typeface="Space Grotesk" pitchFamily="34" charset="0"/>
                <a:ea typeface="Space Grotesk" pitchFamily="34" charset="-122"/>
                <a:cs typeface="Space Grotesk" pitchFamily="34" charset="-120"/>
              </a:rPr>
              <a:t>Main Team Contributions</a:t>
            </a:r>
            <a:endParaRPr lang="en-US" sz="2100" dirty="0"/>
          </a:p>
        </p:txBody>
      </p:sp>
      <p:sp>
        <p:nvSpPr>
          <p:cNvPr id="12" name="Text 6"/>
          <p:cNvSpPr/>
          <p:nvPr/>
        </p:nvSpPr>
        <p:spPr>
          <a:xfrm>
            <a:off x="2867025" y="3343275"/>
            <a:ext cx="1928813" cy="457200"/>
          </a:xfrm>
          <a:prstGeom prst="rect">
            <a:avLst/>
          </a:prstGeom>
          <a:noFill/>
          <a:ln/>
        </p:spPr>
        <p:txBody>
          <a:bodyPr wrap="square" rtlCol="0" anchor="ctr"/>
          <a:lstStyle/>
          <a:p>
            <a:pPr algn="ctr" indent="0" marL="0">
              <a:lnSpc>
                <a:spcPts val="1800"/>
              </a:lnSpc>
              <a:buNone/>
            </a:pPr>
            <a:r>
              <a:rPr lang="en-US" sz="1350" dirty="0">
                <a:solidFill>
                  <a:srgbClr val="000000">
                    <a:alpha val="99000"/>
                  </a:srgbClr>
                </a:solidFill>
                <a:latin typeface="Almarai" pitchFamily="34" charset="0"/>
                <a:ea typeface="Almarai" pitchFamily="34" charset="-122"/>
                <a:cs typeface="Almarai" pitchFamily="34" charset="-120"/>
              </a:rPr>
              <a:t>Rui Zhao</a:t>
            </a:r>
            <a:endParaRPr lang="en-US" sz="1350" dirty="0"/>
          </a:p>
          <a:p>
            <a:pPr algn="ctr" indent="0" marL="0">
              <a:lnSpc>
                <a:spcPts val="1800"/>
              </a:lnSpc>
              <a:buNone/>
            </a:pPr>
            <a:r>
              <a:rPr lang="en-US" sz="1350" dirty="0">
                <a:solidFill>
                  <a:srgbClr val="000000">
                    <a:alpha val="99000"/>
                  </a:srgbClr>
                </a:solidFill>
                <a:latin typeface="Almarai" pitchFamily="34" charset="0"/>
                <a:ea typeface="Almarai" pitchFamily="34" charset="-122"/>
                <a:cs typeface="Almarai" pitchFamily="34" charset="-120"/>
              </a:rPr>
              <a:t>Scrum Master</a:t>
            </a:r>
            <a:endParaRPr lang="en-US" sz="1350" dirty="0"/>
          </a:p>
        </p:txBody>
      </p:sp>
      <p:sp>
        <p:nvSpPr>
          <p:cNvPr id="13" name="Text 7"/>
          <p:cNvSpPr/>
          <p:nvPr/>
        </p:nvSpPr>
        <p:spPr>
          <a:xfrm>
            <a:off x="985838" y="3343275"/>
            <a:ext cx="1928813" cy="457200"/>
          </a:xfrm>
          <a:prstGeom prst="rect">
            <a:avLst/>
          </a:prstGeom>
          <a:noFill/>
          <a:ln/>
        </p:spPr>
        <p:txBody>
          <a:bodyPr wrap="square" rtlCol="0" anchor="ctr"/>
          <a:lstStyle/>
          <a:p>
            <a:pPr algn="ctr" indent="0" marL="0">
              <a:lnSpc>
                <a:spcPts val="1800"/>
              </a:lnSpc>
              <a:buNone/>
            </a:pPr>
            <a:r>
              <a:rPr lang="en-US" sz="1350" dirty="0">
                <a:solidFill>
                  <a:srgbClr val="000000">
                    <a:alpha val="99000"/>
                  </a:srgbClr>
                </a:solidFill>
                <a:latin typeface="Almarai" pitchFamily="34" charset="0"/>
                <a:ea typeface="Almarai" pitchFamily="34" charset="-122"/>
                <a:cs typeface="Almarai" pitchFamily="34" charset="-120"/>
              </a:rPr>
              <a:t>Chun He</a:t>
            </a:r>
            <a:endParaRPr lang="en-US" sz="1350" dirty="0"/>
          </a:p>
          <a:p>
            <a:pPr algn="ctr" indent="0" marL="0">
              <a:lnSpc>
                <a:spcPts val="1800"/>
              </a:lnSpc>
              <a:buNone/>
            </a:pPr>
            <a:r>
              <a:rPr lang="en-US" sz="1350" dirty="0">
                <a:solidFill>
                  <a:srgbClr val="000000">
                    <a:alpha val="99000"/>
                  </a:srgbClr>
                </a:solidFill>
                <a:latin typeface="Almarai" pitchFamily="34" charset="0"/>
                <a:ea typeface="Almarai" pitchFamily="34" charset="-122"/>
                <a:cs typeface="Almarai" pitchFamily="34" charset="-120"/>
              </a:rPr>
              <a:t>Product Owner</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0F0"/>
        </a:solidFill>
      </p:bgPr>
    </p:bg>
    <p:spTree>
      <p:nvGrpSpPr>
        <p:cNvPr id="1" name=""/>
        <p:cNvGrpSpPr/>
        <p:nvPr/>
      </p:nvGrpSpPr>
      <p:grpSpPr>
        <a:xfrm>
          <a:off x="0" y="0"/>
          <a:ext cx="0" cy="0"/>
          <a:chOff x="0" y="0"/>
          <a:chExt cx="0" cy="0"/>
        </a:xfrm>
      </p:grpSpPr>
      <p:sp>
        <p:nvSpPr>
          <p:cNvPr id="2" name="Shape 0"/>
          <p:cNvSpPr/>
          <p:nvPr/>
        </p:nvSpPr>
        <p:spPr>
          <a:xfrm>
            <a:off x="0" y="666750"/>
            <a:ext cx="9144000" cy="0"/>
          </a:xfrm>
          <a:prstGeom prst="line">
            <a:avLst/>
          </a:prstGeom>
          <a:noFill/>
          <a:ln w="76200">
            <a:solidFill>
              <a:srgbClr val="000000"/>
            </a:solidFill>
            <a:prstDash val="solid"/>
          </a:ln>
        </p:spPr>
      </p:sp>
      <p:sp>
        <p:nvSpPr>
          <p:cNvPr id="3" name="Shape 1"/>
          <p:cNvSpPr/>
          <p:nvPr/>
        </p:nvSpPr>
        <p:spPr>
          <a:xfrm>
            <a:off x="4763" y="2157413"/>
            <a:ext cx="9144000" cy="0"/>
          </a:xfrm>
          <a:prstGeom prst="line">
            <a:avLst/>
          </a:prstGeom>
          <a:noFill/>
          <a:ln w="12700">
            <a:solidFill>
              <a:srgbClr val="000000"/>
            </a:solidFill>
            <a:prstDash val="solid"/>
          </a:ln>
        </p:spPr>
      </p:sp>
      <p:sp>
        <p:nvSpPr>
          <p:cNvPr id="4" name="Shape 2"/>
          <p:cNvSpPr/>
          <p:nvPr/>
        </p:nvSpPr>
        <p:spPr>
          <a:xfrm rot="5400000">
            <a:off x="-578644" y="3488531"/>
            <a:ext cx="2662238" cy="0"/>
          </a:xfrm>
          <a:prstGeom prst="line">
            <a:avLst/>
          </a:prstGeom>
          <a:noFill/>
          <a:ln w="12700">
            <a:solidFill>
              <a:srgbClr val="000000"/>
            </a:solidFill>
            <a:prstDash val="solid"/>
          </a:ln>
        </p:spPr>
      </p:sp>
      <p:sp>
        <p:nvSpPr>
          <p:cNvPr id="5" name="Shape 3"/>
          <p:cNvSpPr/>
          <p:nvPr/>
        </p:nvSpPr>
        <p:spPr>
          <a:xfrm>
            <a:off x="0" y="3490913"/>
            <a:ext cx="9144000" cy="0"/>
          </a:xfrm>
          <a:prstGeom prst="line">
            <a:avLst/>
          </a:prstGeom>
          <a:noFill/>
          <a:ln w="12700">
            <a:solidFill>
              <a:srgbClr val="000000"/>
            </a:solidFill>
            <a:prstDash val="solid"/>
          </a:ln>
        </p:spPr>
      </p:sp>
      <p:sp>
        <p:nvSpPr>
          <p:cNvPr id="6" name="Text 4"/>
          <p:cNvSpPr/>
          <p:nvPr/>
        </p:nvSpPr>
        <p:spPr>
          <a:xfrm>
            <a:off x="2462213" y="190500"/>
            <a:ext cx="4681538" cy="285750"/>
          </a:xfrm>
          <a:prstGeom prst="rect">
            <a:avLst/>
          </a:prstGeom>
          <a:noFill/>
          <a:ln/>
        </p:spPr>
        <p:txBody>
          <a:bodyPr wrap="square" rtlCol="0" anchor="ctr"/>
          <a:lstStyle/>
          <a:p>
            <a:pPr algn="ctr" indent="0" marL="0">
              <a:lnSpc>
                <a:spcPts val="2250"/>
              </a:lnSpc>
              <a:buNone/>
            </a:pPr>
            <a:r>
              <a:rPr lang="en-US" sz="2100" spc="210" kern="0" dirty="0">
                <a:solidFill>
                  <a:srgbClr val="000000">
                    <a:alpha val="99000"/>
                  </a:srgbClr>
                </a:solidFill>
                <a:latin typeface="Space Grotesk" pitchFamily="34" charset="0"/>
                <a:ea typeface="Space Grotesk" pitchFamily="34" charset="-122"/>
                <a:cs typeface="Space Grotesk" pitchFamily="34" charset="-120"/>
              </a:rPr>
              <a:t>Collaboration Highlights</a:t>
            </a:r>
            <a:endParaRPr lang="en-US" sz="2100" dirty="0"/>
          </a:p>
        </p:txBody>
      </p:sp>
      <p:sp>
        <p:nvSpPr>
          <p:cNvPr id="7" name="Text 5"/>
          <p:cNvSpPr/>
          <p:nvPr/>
        </p:nvSpPr>
        <p:spPr>
          <a:xfrm>
            <a:off x="295275" y="2709863"/>
            <a:ext cx="619125" cy="333375"/>
          </a:xfrm>
          <a:prstGeom prst="rect">
            <a:avLst/>
          </a:prstGeom>
          <a:noFill/>
          <a:ln/>
        </p:spPr>
        <p:txBody>
          <a:bodyPr wrap="square" rtlCol="0" anchor="ctr"/>
          <a:lstStyle/>
          <a:p>
            <a:pPr algn="ctr" indent="0" marL="0">
              <a:lnSpc>
                <a:spcPts val="2625"/>
              </a:lnSpc>
              <a:buNone/>
            </a:pPr>
            <a:r>
              <a:rPr lang="en-US" sz="2400" spc="48" kern="0" dirty="0">
                <a:solidFill>
                  <a:srgbClr val="000000">
                    <a:alpha val="99000"/>
                  </a:srgbClr>
                </a:solidFill>
                <a:latin typeface="Besley" pitchFamily="34" charset="0"/>
                <a:ea typeface="Besley" pitchFamily="34" charset="-122"/>
                <a:cs typeface="Besley" pitchFamily="34" charset="-120"/>
              </a:rPr>
              <a:t>1</a:t>
            </a:r>
            <a:endParaRPr lang="en-US" sz="2400" dirty="0"/>
          </a:p>
        </p:txBody>
      </p:sp>
      <p:sp>
        <p:nvSpPr>
          <p:cNvPr id="8" name="Text 6"/>
          <p:cNvSpPr/>
          <p:nvPr/>
        </p:nvSpPr>
        <p:spPr>
          <a:xfrm>
            <a:off x="295275" y="3990975"/>
            <a:ext cx="633413" cy="333375"/>
          </a:xfrm>
          <a:prstGeom prst="rect">
            <a:avLst/>
          </a:prstGeom>
          <a:noFill/>
          <a:ln/>
        </p:spPr>
        <p:txBody>
          <a:bodyPr wrap="square" rtlCol="0" anchor="ctr"/>
          <a:lstStyle/>
          <a:p>
            <a:pPr algn="ctr" indent="0" marL="0">
              <a:lnSpc>
                <a:spcPts val="2625"/>
              </a:lnSpc>
              <a:buNone/>
            </a:pPr>
            <a:r>
              <a:rPr lang="en-US" sz="2400" spc="48" kern="0" dirty="0">
                <a:solidFill>
                  <a:srgbClr val="000000">
                    <a:alpha val="99000"/>
                  </a:srgbClr>
                </a:solidFill>
                <a:latin typeface="Besley" pitchFamily="34" charset="0"/>
                <a:ea typeface="Besley" pitchFamily="34" charset="-122"/>
                <a:cs typeface="Besley" pitchFamily="34" charset="-120"/>
              </a:rPr>
              <a:t>2</a:t>
            </a:r>
            <a:endParaRPr lang="en-US" sz="2400" dirty="0"/>
          </a:p>
        </p:txBody>
      </p:sp>
      <p:sp>
        <p:nvSpPr>
          <p:cNvPr id="9" name="Text 7"/>
          <p:cNvSpPr/>
          <p:nvPr/>
        </p:nvSpPr>
        <p:spPr>
          <a:xfrm>
            <a:off x="900113" y="2424113"/>
            <a:ext cx="8467725" cy="685800"/>
          </a:xfrm>
          <a:prstGeom prst="rect">
            <a:avLst/>
          </a:prstGeom>
          <a:noFill/>
          <a:ln/>
        </p:spPr>
        <p:txBody>
          <a:bodyPr wrap="square" rtlCol="0" anchor="ctr"/>
          <a:lstStyle/>
          <a:p>
            <a:pPr algn="l" indent="0" marL="0">
              <a:lnSpc>
                <a:spcPts val="1800"/>
              </a:lnSpc>
              <a:buNone/>
            </a:pPr>
            <a:r>
              <a:rPr lang="en-US" sz="1350" dirty="0">
                <a:solidFill>
                  <a:srgbClr val="000000">
                    <a:alpha val="99000"/>
                  </a:srgbClr>
                </a:solidFill>
                <a:latin typeface="Almarai" pitchFamily="34" charset="0"/>
                <a:ea typeface="Almarai" pitchFamily="34" charset="-122"/>
                <a:cs typeface="Almarai" pitchFamily="34" charset="-120"/>
              </a:rPr>
              <a:t>Our most successful collaboration was the </a:t>
            </a:r>
            <a:pPr algn="l" indent="0" marL="0">
              <a:lnSpc>
                <a:spcPts val="1800"/>
              </a:lnSpc>
              <a:buNone/>
            </a:pPr>
            <a:r>
              <a:rPr lang="en-US" sz="1350" b="1" dirty="0">
                <a:solidFill>
                  <a:srgbClr val="000000">
                    <a:alpha val="99000"/>
                  </a:srgbClr>
                </a:solidFill>
                <a:latin typeface="Almarai" pitchFamily="34" charset="0"/>
                <a:ea typeface="Almarai" pitchFamily="34" charset="-122"/>
                <a:cs typeface="Almarai" pitchFamily="34" charset="-120"/>
              </a:rPr>
              <a:t>User Story Workshop. </a:t>
            </a:r>
            <a:pPr algn="l" indent="0" marL="0">
              <a:lnSpc>
                <a:spcPts val="1800"/>
              </a:lnSpc>
              <a:buNone/>
            </a:pPr>
            <a:r>
              <a:rPr lang="en-US" sz="1350" dirty="0">
                <a:solidFill>
                  <a:srgbClr val="000000">
                    <a:alpha val="99000"/>
                  </a:srgbClr>
                </a:solidFill>
                <a:latin typeface="Almarai" pitchFamily="34" charset="0"/>
                <a:ea typeface="Almarai" pitchFamily="34" charset="-122"/>
                <a:cs typeface="Almarai" pitchFamily="34" charset="-120"/>
              </a:rPr>
              <a:t>Our Product Owners would propose a story, and other group members would estimate the availability to convert it to a achievable function, then our UI Lead would immediately mock up a rough visual. </a:t>
            </a:r>
            <a:endParaRPr lang="en-US" sz="1350" dirty="0"/>
          </a:p>
        </p:txBody>
      </p:sp>
      <p:sp>
        <p:nvSpPr>
          <p:cNvPr id="10" name="Text 8"/>
          <p:cNvSpPr/>
          <p:nvPr/>
        </p:nvSpPr>
        <p:spPr>
          <a:xfrm>
            <a:off x="900113" y="3962400"/>
            <a:ext cx="8467725" cy="457200"/>
          </a:xfrm>
          <a:prstGeom prst="rect">
            <a:avLst/>
          </a:prstGeom>
          <a:noFill/>
          <a:ln/>
        </p:spPr>
        <p:txBody>
          <a:bodyPr wrap="square" rtlCol="0" anchor="ctr"/>
          <a:lstStyle/>
          <a:p>
            <a:pPr algn="l" indent="0" marL="0">
              <a:lnSpc>
                <a:spcPts val="1800"/>
              </a:lnSpc>
              <a:buNone/>
            </a:pPr>
            <a:r>
              <a:rPr lang="en-US" sz="1350" dirty="0">
                <a:solidFill>
                  <a:srgbClr val="000000">
                    <a:alpha val="99000"/>
                  </a:srgbClr>
                </a:solidFill>
                <a:latin typeface="Almarai" pitchFamily="34" charset="0"/>
                <a:ea typeface="Almarai" pitchFamily="34" charset="-122"/>
                <a:cs typeface="Almarai" pitchFamily="34" charset="-120"/>
              </a:rPr>
              <a:t>Furthermore, the </a:t>
            </a:r>
            <a:pPr algn="l" indent="0" marL="0">
              <a:lnSpc>
                <a:spcPts val="1800"/>
              </a:lnSpc>
              <a:buNone/>
            </a:pPr>
            <a:r>
              <a:rPr lang="en-US" sz="1350" b="1" dirty="0">
                <a:solidFill>
                  <a:srgbClr val="000000">
                    <a:alpha val="99000"/>
                  </a:srgbClr>
                </a:solidFill>
                <a:latin typeface="Almarai" pitchFamily="34" charset="0"/>
                <a:ea typeface="Almarai" pitchFamily="34" charset="-122"/>
                <a:cs typeface="Almarai" pitchFamily="34" charset="-120"/>
              </a:rPr>
              <a:t>UI Prototype Design </a:t>
            </a:r>
            <a:pPr algn="l" indent="0" marL="0">
              <a:lnSpc>
                <a:spcPts val="1800"/>
              </a:lnSpc>
              <a:buNone/>
            </a:pPr>
            <a:r>
              <a:rPr lang="en-US" sz="1350" dirty="0">
                <a:solidFill>
                  <a:srgbClr val="000000">
                    <a:alpha val="99000"/>
                  </a:srgbClr>
                </a:solidFill>
                <a:latin typeface="Almarai" pitchFamily="34" charset="0"/>
                <a:ea typeface="Almarai" pitchFamily="34" charset="-122"/>
                <a:cs typeface="Almarai" pitchFamily="34" charset="-120"/>
              </a:rPr>
              <a:t>wasn't a solo effort. The entire team provided continuous feedback to the logo design and so on.</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5D1"/>
        </a:solidFill>
      </p:bgPr>
    </p:bg>
    <p:spTree>
      <p:nvGrpSpPr>
        <p:cNvPr id="1" name=""/>
        <p:cNvGrpSpPr/>
        <p:nvPr/>
      </p:nvGrpSpPr>
      <p:grpSpPr>
        <a:xfrm>
          <a:off x="0" y="0"/>
          <a:ext cx="0" cy="0"/>
          <a:chOff x="0" y="0"/>
          <a:chExt cx="0" cy="0"/>
        </a:xfrm>
      </p:grpSpPr>
      <p:sp>
        <p:nvSpPr>
          <p:cNvPr id="2" name="Shape 0"/>
          <p:cNvSpPr/>
          <p:nvPr/>
        </p:nvSpPr>
        <p:spPr>
          <a:xfrm>
            <a:off x="0" y="4819650"/>
            <a:ext cx="9144000" cy="0"/>
          </a:xfrm>
          <a:prstGeom prst="line">
            <a:avLst/>
          </a:prstGeom>
          <a:noFill/>
          <a:ln w="12700">
            <a:solidFill>
              <a:srgbClr val="000000"/>
            </a:solidFill>
            <a:prstDash val="solid"/>
          </a:ln>
        </p:spPr>
      </p:sp>
      <p:sp>
        <p:nvSpPr>
          <p:cNvPr id="3" name="Text 1"/>
          <p:cNvSpPr/>
          <p:nvPr/>
        </p:nvSpPr>
        <p:spPr>
          <a:xfrm>
            <a:off x="1347788" y="757238"/>
            <a:ext cx="6906577" cy="871538"/>
          </a:xfrm>
          <a:prstGeom prst="rect">
            <a:avLst/>
          </a:prstGeom>
          <a:noFill/>
          <a:ln/>
        </p:spPr>
        <p:txBody>
          <a:bodyPr wrap="square" rtlCol="0" anchor="ctr"/>
          <a:lstStyle/>
          <a:p>
            <a:pPr algn="ctr" indent="0" marL="0">
              <a:lnSpc>
                <a:spcPts val="6863"/>
              </a:lnSpc>
              <a:buNone/>
            </a:pPr>
            <a:r>
              <a:rPr lang="en-US" sz="6274" spc="125" kern="0" dirty="0">
                <a:solidFill>
                  <a:srgbClr val="000000">
                    <a:alpha val="99000"/>
                  </a:srgbClr>
                </a:solidFill>
                <a:latin typeface="Besley" pitchFamily="34" charset="0"/>
                <a:ea typeface="Besley" pitchFamily="34" charset="-122"/>
                <a:cs typeface="Besley" pitchFamily="34" charset="-120"/>
              </a:rPr>
              <a:t>THANK YOU</a:t>
            </a:r>
            <a:endParaRPr lang="en-US" sz="6274" dirty="0"/>
          </a:p>
        </p:txBody>
      </p:sp>
      <p:sp>
        <p:nvSpPr>
          <p:cNvPr id="4" name="Text 2"/>
          <p:cNvSpPr/>
          <p:nvPr/>
        </p:nvSpPr>
        <p:spPr>
          <a:xfrm>
            <a:off x="3314700" y="3419475"/>
            <a:ext cx="2971800" cy="300038"/>
          </a:xfrm>
          <a:prstGeom prst="rect">
            <a:avLst/>
          </a:prstGeom>
          <a:noFill/>
          <a:ln/>
        </p:spPr>
        <p:txBody>
          <a:bodyPr wrap="square" rtlCol="0" anchor="ctr"/>
          <a:lstStyle/>
          <a:p>
            <a:pPr algn="ctr" indent="0" marL="0">
              <a:lnSpc>
                <a:spcPts val="2363"/>
              </a:lnSpc>
              <a:buNone/>
            </a:pPr>
            <a:r>
              <a:rPr lang="en-US" sz="2126" dirty="0">
                <a:solidFill>
                  <a:srgbClr val="000000">
                    <a:alpha val="99000"/>
                  </a:srgbClr>
                </a:solidFill>
                <a:latin typeface="Besley" pitchFamily="34" charset="0"/>
                <a:ea typeface="Besley" pitchFamily="34" charset="-122"/>
                <a:cs typeface="Besley" pitchFamily="34" charset="-120"/>
              </a:rPr>
              <a:t>ANY QUESTION?</a:t>
            </a:r>
            <a:endParaRPr lang="en-US" sz="2126"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2025-11-07T12:10:04Z</dcterms:created>
  <dcterms:modified xsi:type="dcterms:W3CDTF">2025-11-07T12:10:04Z</dcterms:modified>
</cp:coreProperties>
</file>